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89" autoAdjust="0"/>
    <p:restoredTop sz="94610"/>
  </p:normalViewPr>
  <p:slideViewPr>
    <p:cSldViewPr snapToGrid="0" snapToObjects="1">
      <p:cViewPr varScale="1">
        <p:scale>
          <a:sx n="109" d="100"/>
          <a:sy n="109" d="100"/>
        </p:scale>
        <p:origin x="79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85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863840" cy="822960"/>
          </a:xfrm>
          <a:prstGeom prst="rect">
            <a:avLst/>
          </a:prstGeom>
          <a:noFill/>
          <a:ln/>
        </p:spPr>
        <p:txBody>
          <a:bodyPr wrap="square" lIns="0" tIns="0" rIns="0" bIns="0" rtlCol="0" anchor="ctr"/>
          <a:lstStyle/>
          <a:p>
            <a:pPr marL="0" indent="0" algn="ctr">
              <a:buNone/>
            </a:pPr>
            <a:r>
              <a:rPr lang="en-US" sz="4400" b="1" dirty="0">
                <a:latin typeface="Calibri" pitchFamily="34" charset="0"/>
                <a:ea typeface="Calibri" pitchFamily="34" charset="-122"/>
                <a:cs typeface="Calibri" pitchFamily="34" charset="-120"/>
              </a:rPr>
              <a:t>AI Invoice Processing Agent</a:t>
            </a:r>
            <a:endParaRPr lang="en-US" sz="4400" dirty="0"/>
          </a:p>
        </p:txBody>
      </p:sp>
      <p:sp>
        <p:nvSpPr>
          <p:cNvPr id="3" name="Text 1"/>
          <p:cNvSpPr txBox="1"/>
          <p:nvPr/>
        </p:nvSpPr>
        <p:spPr>
          <a:xfrm>
            <a:off x="640080" y="1908628"/>
            <a:ext cx="7863840" cy="915126"/>
          </a:xfrm>
          <a:prstGeom prst="rect">
            <a:avLst/>
          </a:prstGeom>
          <a:noFill/>
          <a:ln/>
        </p:spPr>
        <p:txBody>
          <a:bodyPr wrap="square" lIns="0" tIns="0" rIns="0" bIns="0" rtlCol="0" anchor="ctr"/>
          <a:lstStyle/>
          <a:p>
            <a:pPr marL="0" indent="0" algn="ctr">
              <a:buNone/>
            </a:pPr>
            <a:r>
              <a:rPr lang="en-US" sz="2400" dirty="0">
                <a:latin typeface="Calibri" pitchFamily="34" charset="0"/>
                <a:ea typeface="Calibri" pitchFamily="34" charset="-122"/>
                <a:cs typeface="Calibri" pitchFamily="34" charset="-120"/>
              </a:rPr>
              <a:t>AI-powered business process automation using</a:t>
            </a:r>
          </a:p>
          <a:p>
            <a:pPr marL="0" indent="0" algn="ctr">
              <a:buNone/>
            </a:pPr>
            <a:r>
              <a:rPr lang="en-US" sz="2400" dirty="0">
                <a:latin typeface="Calibri" pitchFamily="34" charset="0"/>
                <a:ea typeface="Calibri" pitchFamily="34" charset="-122"/>
                <a:cs typeface="Calibri" pitchFamily="34" charset="-120"/>
              </a:rPr>
              <a:t> n8n, Google Gemini &amp; Google Workspace</a:t>
            </a:r>
            <a:endParaRPr lang="en-US" sz="2400" dirty="0"/>
          </a:p>
        </p:txBody>
      </p:sp>
      <p:sp>
        <p:nvSpPr>
          <p:cNvPr id="4" name="Text 2"/>
          <p:cNvSpPr txBox="1"/>
          <p:nvPr/>
        </p:nvSpPr>
        <p:spPr>
          <a:xfrm>
            <a:off x="763451" y="3291478"/>
            <a:ext cx="7315200" cy="1005840"/>
          </a:xfrm>
          <a:prstGeom prst="rect">
            <a:avLst/>
          </a:prstGeom>
          <a:noFill/>
          <a:ln/>
        </p:spPr>
        <p:txBody>
          <a:bodyPr wrap="square" lIns="0" tIns="0" rIns="0" bIns="0" rtlCol="0" anchor="ctr"/>
          <a:lstStyle/>
          <a:p>
            <a:pPr marL="0" indent="0" algn="ctr">
              <a:buNone/>
            </a:pPr>
            <a:r>
              <a:rPr lang="en-US" sz="1500" dirty="0">
                <a:solidFill>
                  <a:schemeClr val="tx1">
                    <a:lumMod val="50000"/>
                    <a:lumOff val="50000"/>
                  </a:schemeClr>
                </a:solidFill>
                <a:latin typeface="Calibri" pitchFamily="34" charset="0"/>
                <a:ea typeface="Calibri" pitchFamily="34" charset="-122"/>
                <a:cs typeface="Calibri" pitchFamily="34" charset="-120"/>
              </a:rPr>
              <a:t>Presented by Shubham Vishwakarma</a:t>
            </a:r>
            <a:endParaRPr lang="en-US" sz="1500" dirty="0">
              <a:solidFill>
                <a:schemeClr val="tx1">
                  <a:lumMod val="50000"/>
                  <a:lumOff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Business Problem</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500" b="1" dirty="0">
                <a:solidFill>
                  <a:srgbClr val="4B5563"/>
                </a:solidFill>
                <a:latin typeface="Calibri" pitchFamily="34" charset="0"/>
                <a:ea typeface="Calibri" pitchFamily="34" charset="-122"/>
                <a:cs typeface="Calibri" pitchFamily="34" charset="-120"/>
              </a:rPr>
              <a:t>Invoice processing is repetitive, manual and error-prone</a:t>
            </a:r>
            <a:endParaRPr lang="en-US" sz="1500" b="1" dirty="0"/>
          </a:p>
        </p:txBody>
      </p:sp>
      <p:sp>
        <p:nvSpPr>
          <p:cNvPr id="4" name="Text 2"/>
          <p:cNvSpPr txBox="1"/>
          <p:nvPr/>
        </p:nvSpPr>
        <p:spPr>
          <a:xfrm>
            <a:off x="457200" y="1325880"/>
            <a:ext cx="3840480" cy="274320"/>
          </a:xfrm>
          <a:prstGeom prst="rect">
            <a:avLst/>
          </a:prstGeom>
          <a:noFill/>
          <a:ln/>
        </p:spPr>
        <p:txBody>
          <a:bodyPr wrap="square" lIns="0" tIns="0" rIns="0" bIns="0" rtlCol="0" anchor="ctr"/>
          <a:lstStyle/>
          <a:p>
            <a:pPr marL="0" indent="0">
              <a:buNone/>
            </a:pPr>
            <a:r>
              <a:rPr lang="en-US" sz="1600" b="1" dirty="0">
                <a:solidFill>
                  <a:srgbClr val="0E9AA7"/>
                </a:solidFill>
                <a:latin typeface="Calibri" pitchFamily="34" charset="0"/>
                <a:ea typeface="Calibri" pitchFamily="34" charset="-122"/>
                <a:cs typeface="Calibri" pitchFamily="34" charset="-120"/>
              </a:rPr>
              <a:t>Manual steps</a:t>
            </a:r>
            <a:endParaRPr lang="en-US" sz="1600" dirty="0"/>
          </a:p>
        </p:txBody>
      </p:sp>
      <p:sp>
        <p:nvSpPr>
          <p:cNvPr id="5" name="Text 3"/>
          <p:cNvSpPr txBox="1"/>
          <p:nvPr/>
        </p:nvSpPr>
        <p:spPr>
          <a:xfrm>
            <a:off x="457200" y="1645920"/>
            <a:ext cx="3840480" cy="310896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Receive invoices via email</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Open and read documents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Extract data manually</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Validate amounts and fields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Check against Purchase Orders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Detect duplicates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Approve / review / reject</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Maintain records and notify</a:t>
            </a:r>
            <a:endParaRPr lang="en-US" sz="1600" dirty="0"/>
          </a:p>
        </p:txBody>
      </p:sp>
      <p:sp>
        <p:nvSpPr>
          <p:cNvPr id="6" name="Text 4"/>
          <p:cNvSpPr txBox="1"/>
          <p:nvPr/>
        </p:nvSpPr>
        <p:spPr>
          <a:xfrm>
            <a:off x="4846320" y="1325880"/>
            <a:ext cx="3840480" cy="274320"/>
          </a:xfrm>
          <a:prstGeom prst="rect">
            <a:avLst/>
          </a:prstGeom>
          <a:noFill/>
          <a:ln/>
        </p:spPr>
        <p:txBody>
          <a:bodyPr wrap="square" lIns="0" tIns="0" rIns="0" bIns="0" rtlCol="0" anchor="ctr"/>
          <a:lstStyle/>
          <a:p>
            <a:pPr marL="0" indent="0">
              <a:buNone/>
            </a:pPr>
            <a:r>
              <a:rPr lang="en-US" sz="1600" b="1" dirty="0">
                <a:solidFill>
                  <a:srgbClr val="0E9AA7"/>
                </a:solidFill>
                <a:latin typeface="Calibri" pitchFamily="34" charset="0"/>
                <a:ea typeface="Calibri" pitchFamily="34" charset="-122"/>
                <a:cs typeface="Calibri" pitchFamily="34" charset="-120"/>
              </a:rPr>
              <a:t>Key challenges</a:t>
            </a:r>
            <a:endParaRPr lang="en-US" sz="1600" dirty="0"/>
          </a:p>
        </p:txBody>
      </p:sp>
      <p:sp>
        <p:nvSpPr>
          <p:cNvPr id="7" name="Text 5"/>
          <p:cNvSpPr txBox="1"/>
          <p:nvPr/>
        </p:nvSpPr>
        <p:spPr>
          <a:xfrm>
            <a:off x="4846320" y="1645920"/>
            <a:ext cx="3840480" cy="310896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Manual data-entry effort</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Extraction and validation errors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Duplicate invoice processing</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PO and invoice mismatches</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Delayed exception handling</a:t>
            </a:r>
            <a:endParaRPr lang="en-US" sz="16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No centralized processing records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Project Objective</a:t>
            </a:r>
            <a:endParaRPr lang="en-US" sz="2800" dirty="0"/>
          </a:p>
        </p:txBody>
      </p:sp>
      <p:sp>
        <p:nvSpPr>
          <p:cNvPr id="3" name="Text 1"/>
          <p:cNvSpPr txBox="1"/>
          <p:nvPr/>
        </p:nvSpPr>
        <p:spPr>
          <a:xfrm>
            <a:off x="457200" y="1005840"/>
            <a:ext cx="8229600" cy="100584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Build an agentic AI invoice workflow that receives invoice PDFs via Gmail, extracts structured data with an LLM, validates it, detects duplicates, matches POs, applies deterministic business rules, logs results and escalates exceptions to a human.</a:t>
            </a:r>
            <a:endParaRPr lang="en-US" sz="1500" dirty="0"/>
          </a:p>
        </p:txBody>
      </p:sp>
      <p:sp>
        <p:nvSpPr>
          <p:cNvPr id="4" name="Text 2"/>
          <p:cNvSpPr/>
          <p:nvPr/>
        </p:nvSpPr>
        <p:spPr>
          <a:xfrm>
            <a:off x="457200" y="219456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Automate invoice intake</a:t>
            </a:r>
            <a:endParaRPr lang="en-US" sz="1300" dirty="0"/>
          </a:p>
        </p:txBody>
      </p:sp>
      <p:sp>
        <p:nvSpPr>
          <p:cNvPr id="5" name="Text 3"/>
          <p:cNvSpPr/>
          <p:nvPr/>
        </p:nvSpPr>
        <p:spPr>
          <a:xfrm>
            <a:off x="3246120" y="219456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Extract structured data</a:t>
            </a:r>
            <a:endParaRPr lang="en-US" sz="1300" dirty="0"/>
          </a:p>
        </p:txBody>
      </p:sp>
      <p:sp>
        <p:nvSpPr>
          <p:cNvPr id="6" name="Text 4"/>
          <p:cNvSpPr/>
          <p:nvPr/>
        </p:nvSpPr>
        <p:spPr>
          <a:xfrm>
            <a:off x="6035040" y="219456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Validate invoice data</a:t>
            </a:r>
            <a:endParaRPr lang="en-US" sz="1300" dirty="0"/>
          </a:p>
        </p:txBody>
      </p:sp>
      <p:sp>
        <p:nvSpPr>
          <p:cNvPr id="7" name="Text 5"/>
          <p:cNvSpPr/>
          <p:nvPr/>
        </p:nvSpPr>
        <p:spPr>
          <a:xfrm>
            <a:off x="457200" y="306324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Detect duplicates</a:t>
            </a:r>
            <a:endParaRPr lang="en-US" sz="1300" dirty="0"/>
          </a:p>
        </p:txBody>
      </p:sp>
      <p:sp>
        <p:nvSpPr>
          <p:cNvPr id="8" name="Text 6"/>
          <p:cNvSpPr/>
          <p:nvPr/>
        </p:nvSpPr>
        <p:spPr>
          <a:xfrm>
            <a:off x="3246120" y="306324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Match with POs</a:t>
            </a:r>
            <a:endParaRPr lang="en-US" sz="1300" dirty="0"/>
          </a:p>
        </p:txBody>
      </p:sp>
      <p:sp>
        <p:nvSpPr>
          <p:cNvPr id="9" name="Text 7"/>
          <p:cNvSpPr/>
          <p:nvPr/>
        </p:nvSpPr>
        <p:spPr>
          <a:xfrm>
            <a:off x="6035040" y="306324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Apply business rules</a:t>
            </a:r>
            <a:endParaRPr lang="en-US" sz="1300" dirty="0"/>
          </a:p>
        </p:txBody>
      </p:sp>
      <p:sp>
        <p:nvSpPr>
          <p:cNvPr id="10" name="Text 8"/>
          <p:cNvSpPr/>
          <p:nvPr/>
        </p:nvSpPr>
        <p:spPr>
          <a:xfrm>
            <a:off x="457200" y="393192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Maintain processing log</a:t>
            </a:r>
            <a:endParaRPr lang="en-US" sz="1300" dirty="0"/>
          </a:p>
        </p:txBody>
      </p:sp>
      <p:sp>
        <p:nvSpPr>
          <p:cNvPr id="11" name="Text 9"/>
          <p:cNvSpPr/>
          <p:nvPr/>
        </p:nvSpPr>
        <p:spPr>
          <a:xfrm>
            <a:off x="3246120" y="393192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Notify users</a:t>
            </a:r>
            <a:endParaRPr lang="en-US" sz="1300" dirty="0"/>
          </a:p>
        </p:txBody>
      </p:sp>
      <p:sp>
        <p:nvSpPr>
          <p:cNvPr id="12" name="Text 10"/>
          <p:cNvSpPr/>
          <p:nvPr/>
        </p:nvSpPr>
        <p:spPr>
          <a:xfrm>
            <a:off x="6035040" y="3931920"/>
            <a:ext cx="2606040" cy="685800"/>
          </a:xfrm>
          <a:prstGeom prst="rect">
            <a:avLst/>
          </a:prstGeom>
          <a:solidFill>
            <a:schemeClr val="bg1">
              <a:lumMod val="85000"/>
            </a:schemeClr>
          </a:solidFill>
          <a:ln/>
        </p:spPr>
        <p:txBody>
          <a:bodyPr wrap="square" rtlCol="0" anchor="ctr"/>
          <a:lstStyle/>
          <a:p>
            <a:pPr marL="0" indent="0" algn="ctr">
              <a:buNone/>
            </a:pPr>
            <a:r>
              <a:rPr lang="en-US" sz="1300" b="1" dirty="0">
                <a:solidFill>
                  <a:srgbClr val="0F2340"/>
                </a:solidFill>
                <a:latin typeface="Calibri" pitchFamily="34" charset="0"/>
                <a:ea typeface="Calibri" pitchFamily="34" charset="-122"/>
                <a:cs typeface="Calibri" pitchFamily="34" charset="-120"/>
              </a:rPr>
              <a:t>Human-in-the-loop escalation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Existing Manual Process</a:t>
            </a:r>
            <a:endParaRPr lang="en-US" sz="2800" dirty="0"/>
          </a:p>
        </p:txBody>
      </p:sp>
      <p:sp>
        <p:nvSpPr>
          <p:cNvPr id="3" name="Text 1"/>
          <p:cNvSpPr/>
          <p:nvPr/>
        </p:nvSpPr>
        <p:spPr>
          <a:xfrm>
            <a:off x="457200"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Invoice Received</a:t>
            </a:r>
            <a:endParaRPr lang="en-US" sz="1300" dirty="0"/>
          </a:p>
        </p:txBody>
      </p:sp>
      <p:sp>
        <p:nvSpPr>
          <p:cNvPr id="4" name="Text 2"/>
          <p:cNvSpPr txBox="1"/>
          <p:nvPr/>
        </p:nvSpPr>
        <p:spPr>
          <a:xfrm>
            <a:off x="1691640" y="1097280"/>
            <a:ext cx="164592"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5" name="Text 3"/>
          <p:cNvSpPr/>
          <p:nvPr/>
        </p:nvSpPr>
        <p:spPr>
          <a:xfrm>
            <a:off x="1856232"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Open Email</a:t>
            </a:r>
            <a:endParaRPr lang="en-US" sz="1300" dirty="0"/>
          </a:p>
        </p:txBody>
      </p:sp>
      <p:sp>
        <p:nvSpPr>
          <p:cNvPr id="6" name="Text 4"/>
          <p:cNvSpPr txBox="1"/>
          <p:nvPr/>
        </p:nvSpPr>
        <p:spPr>
          <a:xfrm>
            <a:off x="3090672" y="1097280"/>
            <a:ext cx="164592"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7" name="Text 5"/>
          <p:cNvSpPr/>
          <p:nvPr/>
        </p:nvSpPr>
        <p:spPr>
          <a:xfrm>
            <a:off x="3255264"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Download PDF</a:t>
            </a:r>
            <a:endParaRPr lang="en-US" sz="1300" dirty="0"/>
          </a:p>
        </p:txBody>
      </p:sp>
      <p:sp>
        <p:nvSpPr>
          <p:cNvPr id="8" name="Text 6"/>
          <p:cNvSpPr txBox="1"/>
          <p:nvPr/>
        </p:nvSpPr>
        <p:spPr>
          <a:xfrm>
            <a:off x="4489704" y="1097280"/>
            <a:ext cx="164592"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9" name="Text 7"/>
          <p:cNvSpPr/>
          <p:nvPr/>
        </p:nvSpPr>
        <p:spPr>
          <a:xfrm>
            <a:off x="4654296"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Read Invoice</a:t>
            </a:r>
            <a:endParaRPr lang="en-US" sz="1300" dirty="0"/>
          </a:p>
        </p:txBody>
      </p:sp>
      <p:sp>
        <p:nvSpPr>
          <p:cNvPr id="10" name="Text 8"/>
          <p:cNvSpPr txBox="1"/>
          <p:nvPr/>
        </p:nvSpPr>
        <p:spPr>
          <a:xfrm>
            <a:off x="5888736" y="1097280"/>
            <a:ext cx="164592"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1" name="Text 9"/>
          <p:cNvSpPr/>
          <p:nvPr/>
        </p:nvSpPr>
        <p:spPr>
          <a:xfrm>
            <a:off x="6053328"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Manually Extract Data</a:t>
            </a:r>
            <a:endParaRPr lang="en-US" sz="1300" dirty="0"/>
          </a:p>
        </p:txBody>
      </p:sp>
      <p:sp>
        <p:nvSpPr>
          <p:cNvPr id="12" name="Text 10"/>
          <p:cNvSpPr txBox="1"/>
          <p:nvPr/>
        </p:nvSpPr>
        <p:spPr>
          <a:xfrm>
            <a:off x="7287768" y="1097280"/>
            <a:ext cx="164592"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3" name="Text 11"/>
          <p:cNvSpPr/>
          <p:nvPr/>
        </p:nvSpPr>
        <p:spPr>
          <a:xfrm>
            <a:off x="7452360" y="1097280"/>
            <a:ext cx="123444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Validate Invoice</a:t>
            </a:r>
            <a:endParaRPr lang="en-US" sz="1300" dirty="0"/>
          </a:p>
        </p:txBody>
      </p:sp>
      <p:sp>
        <p:nvSpPr>
          <p:cNvPr id="14" name="Text 12"/>
          <p:cNvSpPr/>
          <p:nvPr/>
        </p:nvSpPr>
        <p:spPr>
          <a:xfrm>
            <a:off x="457200" y="1965960"/>
            <a:ext cx="141732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Check PO</a:t>
            </a:r>
            <a:endParaRPr lang="en-US" sz="1300" dirty="0"/>
          </a:p>
        </p:txBody>
      </p:sp>
      <p:sp>
        <p:nvSpPr>
          <p:cNvPr id="15" name="Text 13"/>
          <p:cNvSpPr txBox="1"/>
          <p:nvPr/>
        </p:nvSpPr>
        <p:spPr>
          <a:xfrm>
            <a:off x="187452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6" name="Text 14"/>
          <p:cNvSpPr/>
          <p:nvPr/>
        </p:nvSpPr>
        <p:spPr>
          <a:xfrm>
            <a:off x="2160270" y="1965960"/>
            <a:ext cx="141732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Check Duplicate</a:t>
            </a:r>
            <a:endParaRPr lang="en-US" sz="1300" dirty="0"/>
          </a:p>
        </p:txBody>
      </p:sp>
      <p:sp>
        <p:nvSpPr>
          <p:cNvPr id="17" name="Text 15"/>
          <p:cNvSpPr txBox="1"/>
          <p:nvPr/>
        </p:nvSpPr>
        <p:spPr>
          <a:xfrm>
            <a:off x="357759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8" name="Text 16"/>
          <p:cNvSpPr/>
          <p:nvPr/>
        </p:nvSpPr>
        <p:spPr>
          <a:xfrm>
            <a:off x="3863340" y="1965960"/>
            <a:ext cx="141732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Approve / Reject / Review</a:t>
            </a:r>
            <a:endParaRPr lang="en-US" sz="1300" dirty="0"/>
          </a:p>
        </p:txBody>
      </p:sp>
      <p:sp>
        <p:nvSpPr>
          <p:cNvPr id="19" name="Text 17"/>
          <p:cNvSpPr txBox="1"/>
          <p:nvPr/>
        </p:nvSpPr>
        <p:spPr>
          <a:xfrm>
            <a:off x="528066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20" name="Text 18"/>
          <p:cNvSpPr/>
          <p:nvPr/>
        </p:nvSpPr>
        <p:spPr>
          <a:xfrm>
            <a:off x="5566410" y="1965960"/>
            <a:ext cx="141732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Update Records</a:t>
            </a:r>
            <a:endParaRPr lang="en-US" sz="1300" dirty="0"/>
          </a:p>
        </p:txBody>
      </p:sp>
      <p:sp>
        <p:nvSpPr>
          <p:cNvPr id="21" name="Text 19"/>
          <p:cNvSpPr txBox="1"/>
          <p:nvPr/>
        </p:nvSpPr>
        <p:spPr>
          <a:xfrm>
            <a:off x="698373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22" name="Text 20"/>
          <p:cNvSpPr/>
          <p:nvPr/>
        </p:nvSpPr>
        <p:spPr>
          <a:xfrm>
            <a:off x="7269480" y="1965960"/>
            <a:ext cx="1417320" cy="548640"/>
          </a:xfrm>
          <a:prstGeom prst="roundRect">
            <a:avLst>
              <a:gd name="adj" fmla="val 13333"/>
            </a:avLst>
          </a:prstGeom>
          <a:solidFill>
            <a:srgbClr val="6B728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Notify Stakeholder</a:t>
            </a:r>
            <a:endParaRPr lang="en-US" sz="1300" dirty="0"/>
          </a:p>
        </p:txBody>
      </p:sp>
      <p:sp>
        <p:nvSpPr>
          <p:cNvPr id="23" name="Text 21"/>
          <p:cNvSpPr txBox="1"/>
          <p:nvPr/>
        </p:nvSpPr>
        <p:spPr>
          <a:xfrm>
            <a:off x="457200" y="3063240"/>
            <a:ext cx="8229600" cy="274320"/>
          </a:xfrm>
          <a:prstGeom prst="rect">
            <a:avLst/>
          </a:prstGeom>
          <a:noFill/>
          <a:ln/>
        </p:spPr>
        <p:txBody>
          <a:bodyPr wrap="square" lIns="0" tIns="0" rIns="0" bIns="0" rtlCol="0" anchor="ctr"/>
          <a:lstStyle/>
          <a:p>
            <a:pPr marL="0" indent="0">
              <a:buNone/>
            </a:pPr>
            <a:r>
              <a:rPr lang="en-US" sz="1600" b="1" dirty="0">
                <a:solidFill>
                  <a:srgbClr val="0E9AA7"/>
                </a:solidFill>
                <a:latin typeface="Calibri" pitchFamily="34" charset="0"/>
                <a:ea typeface="Calibri" pitchFamily="34" charset="-122"/>
                <a:cs typeface="Calibri" pitchFamily="34" charset="-120"/>
              </a:rPr>
              <a:t>Limitations</a:t>
            </a:r>
            <a:endParaRPr lang="en-US" sz="1600" dirty="0"/>
          </a:p>
        </p:txBody>
      </p:sp>
      <p:sp>
        <p:nvSpPr>
          <p:cNvPr id="24" name="Text 22"/>
          <p:cNvSpPr txBox="1"/>
          <p:nvPr/>
        </p:nvSpPr>
        <p:spPr>
          <a:xfrm>
            <a:off x="457200" y="3383280"/>
            <a:ext cx="8229600" cy="146304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Multiple manual steps and repetitive work</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Higher possibility of human error; time-consuming validation</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Manual exception identification</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Inconsistent processing records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Proposed Automated Solution</a:t>
            </a:r>
            <a:endParaRPr lang="en-US" sz="2800" dirty="0"/>
          </a:p>
        </p:txBody>
      </p:sp>
      <p:sp>
        <p:nvSpPr>
          <p:cNvPr id="3" name="Text 1"/>
          <p:cNvSpPr/>
          <p:nvPr/>
        </p:nvSpPr>
        <p:spPr>
          <a:xfrm>
            <a:off x="457200" y="1097280"/>
            <a:ext cx="1417320" cy="548640"/>
          </a:xfrm>
          <a:prstGeom prst="roundRect">
            <a:avLst>
              <a:gd name="adj" fmla="val 13333"/>
            </a:avLst>
          </a:prstGeom>
          <a:solidFill>
            <a:srgbClr val="0E9AA7"/>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Gmail Invoice</a:t>
            </a:r>
            <a:endParaRPr lang="en-US" sz="1300" dirty="0"/>
          </a:p>
        </p:txBody>
      </p:sp>
      <p:sp>
        <p:nvSpPr>
          <p:cNvPr id="4" name="Text 2"/>
          <p:cNvSpPr txBox="1"/>
          <p:nvPr/>
        </p:nvSpPr>
        <p:spPr>
          <a:xfrm>
            <a:off x="1874520" y="109728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5" name="Text 3"/>
          <p:cNvSpPr/>
          <p:nvPr/>
        </p:nvSpPr>
        <p:spPr>
          <a:xfrm>
            <a:off x="2160270" y="1097280"/>
            <a:ext cx="1417320" cy="548640"/>
          </a:xfrm>
          <a:prstGeom prst="roundRect">
            <a:avLst>
              <a:gd name="adj" fmla="val 13333"/>
            </a:avLst>
          </a:prstGeom>
          <a:solidFill>
            <a:srgbClr val="0E9AA7"/>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Retrieve Invoice</a:t>
            </a:r>
            <a:endParaRPr lang="en-US" sz="1300" dirty="0"/>
          </a:p>
        </p:txBody>
      </p:sp>
      <p:sp>
        <p:nvSpPr>
          <p:cNvPr id="6" name="Text 4"/>
          <p:cNvSpPr txBox="1"/>
          <p:nvPr/>
        </p:nvSpPr>
        <p:spPr>
          <a:xfrm>
            <a:off x="3577590" y="109728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7" name="Text 5"/>
          <p:cNvSpPr/>
          <p:nvPr/>
        </p:nvSpPr>
        <p:spPr>
          <a:xfrm>
            <a:off x="3863340" y="1097280"/>
            <a:ext cx="1417320" cy="548640"/>
          </a:xfrm>
          <a:prstGeom prst="roundRect">
            <a:avLst>
              <a:gd name="adj" fmla="val 13333"/>
            </a:avLst>
          </a:prstGeom>
          <a:solidFill>
            <a:srgbClr val="0E9AA7"/>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Extract Text</a:t>
            </a:r>
            <a:endParaRPr lang="en-US" sz="1300" dirty="0"/>
          </a:p>
        </p:txBody>
      </p:sp>
      <p:sp>
        <p:nvSpPr>
          <p:cNvPr id="8" name="Text 6"/>
          <p:cNvSpPr txBox="1"/>
          <p:nvPr/>
        </p:nvSpPr>
        <p:spPr>
          <a:xfrm>
            <a:off x="5280660" y="109728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9" name="Text 7"/>
          <p:cNvSpPr/>
          <p:nvPr/>
        </p:nvSpPr>
        <p:spPr>
          <a:xfrm>
            <a:off x="5566410" y="1097280"/>
            <a:ext cx="1417320" cy="548640"/>
          </a:xfrm>
          <a:prstGeom prst="roundRect">
            <a:avLst>
              <a:gd name="adj" fmla="val 13333"/>
            </a:avLst>
          </a:prstGeom>
          <a:solidFill>
            <a:srgbClr val="0E9AA7"/>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Data Extraction</a:t>
            </a:r>
            <a:endParaRPr lang="en-US" sz="1300" dirty="0"/>
          </a:p>
        </p:txBody>
      </p:sp>
      <p:sp>
        <p:nvSpPr>
          <p:cNvPr id="10" name="Text 8"/>
          <p:cNvSpPr txBox="1"/>
          <p:nvPr/>
        </p:nvSpPr>
        <p:spPr>
          <a:xfrm>
            <a:off x="6983730" y="109728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1" name="Text 9"/>
          <p:cNvSpPr/>
          <p:nvPr/>
        </p:nvSpPr>
        <p:spPr>
          <a:xfrm>
            <a:off x="7269480" y="1097280"/>
            <a:ext cx="1417320" cy="548640"/>
          </a:xfrm>
          <a:prstGeom prst="roundRect">
            <a:avLst>
              <a:gd name="adj" fmla="val 13333"/>
            </a:avLst>
          </a:prstGeom>
          <a:solidFill>
            <a:srgbClr val="0E9AA7"/>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Validation</a:t>
            </a:r>
            <a:endParaRPr lang="en-US" sz="1300" dirty="0"/>
          </a:p>
        </p:txBody>
      </p:sp>
      <p:sp>
        <p:nvSpPr>
          <p:cNvPr id="12" name="Text 10"/>
          <p:cNvSpPr/>
          <p:nvPr/>
        </p:nvSpPr>
        <p:spPr>
          <a:xfrm>
            <a:off x="457200" y="1965960"/>
            <a:ext cx="1417320" cy="548640"/>
          </a:xfrm>
          <a:prstGeom prst="roundRect">
            <a:avLst>
              <a:gd name="adj" fmla="val 13333"/>
            </a:avLst>
          </a:prstGeom>
          <a:solidFill>
            <a:srgbClr val="0F234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Duplicate Detection</a:t>
            </a:r>
            <a:endParaRPr lang="en-US" sz="1300" dirty="0"/>
          </a:p>
        </p:txBody>
      </p:sp>
      <p:sp>
        <p:nvSpPr>
          <p:cNvPr id="13" name="Text 11"/>
          <p:cNvSpPr txBox="1"/>
          <p:nvPr/>
        </p:nvSpPr>
        <p:spPr>
          <a:xfrm>
            <a:off x="187452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4" name="Text 12"/>
          <p:cNvSpPr/>
          <p:nvPr/>
        </p:nvSpPr>
        <p:spPr>
          <a:xfrm>
            <a:off x="2160270" y="1965960"/>
            <a:ext cx="1417320" cy="548640"/>
          </a:xfrm>
          <a:prstGeom prst="roundRect">
            <a:avLst>
              <a:gd name="adj" fmla="val 13333"/>
            </a:avLst>
          </a:prstGeom>
          <a:solidFill>
            <a:srgbClr val="0F234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 &amp; Vendor Validation</a:t>
            </a:r>
            <a:endParaRPr lang="en-US" sz="1300" dirty="0"/>
          </a:p>
        </p:txBody>
      </p:sp>
      <p:sp>
        <p:nvSpPr>
          <p:cNvPr id="15" name="Text 13"/>
          <p:cNvSpPr txBox="1"/>
          <p:nvPr/>
        </p:nvSpPr>
        <p:spPr>
          <a:xfrm>
            <a:off x="357759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6" name="Text 14"/>
          <p:cNvSpPr/>
          <p:nvPr/>
        </p:nvSpPr>
        <p:spPr>
          <a:xfrm>
            <a:off x="3863340" y="1965960"/>
            <a:ext cx="1417320" cy="548640"/>
          </a:xfrm>
          <a:prstGeom prst="roundRect">
            <a:avLst>
              <a:gd name="adj" fmla="val 13333"/>
            </a:avLst>
          </a:prstGeom>
          <a:solidFill>
            <a:srgbClr val="0F234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Decision Engine</a:t>
            </a:r>
            <a:endParaRPr lang="en-US" sz="1300" dirty="0"/>
          </a:p>
        </p:txBody>
      </p:sp>
      <p:sp>
        <p:nvSpPr>
          <p:cNvPr id="17" name="Text 15"/>
          <p:cNvSpPr txBox="1"/>
          <p:nvPr/>
        </p:nvSpPr>
        <p:spPr>
          <a:xfrm>
            <a:off x="528066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8" name="Text 16"/>
          <p:cNvSpPr/>
          <p:nvPr/>
        </p:nvSpPr>
        <p:spPr>
          <a:xfrm>
            <a:off x="5566410" y="1965960"/>
            <a:ext cx="1417320" cy="548640"/>
          </a:xfrm>
          <a:prstGeom prst="roundRect">
            <a:avLst>
              <a:gd name="adj" fmla="val 13333"/>
            </a:avLst>
          </a:prstGeom>
          <a:solidFill>
            <a:srgbClr val="0F234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Result</a:t>
            </a:r>
            <a:endParaRPr lang="en-US" sz="1300" dirty="0"/>
          </a:p>
        </p:txBody>
      </p:sp>
      <p:sp>
        <p:nvSpPr>
          <p:cNvPr id="19" name="Text 17"/>
          <p:cNvSpPr txBox="1"/>
          <p:nvPr/>
        </p:nvSpPr>
        <p:spPr>
          <a:xfrm>
            <a:off x="6983730" y="1965960"/>
            <a:ext cx="285750" cy="54864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20" name="Text 18"/>
          <p:cNvSpPr/>
          <p:nvPr/>
        </p:nvSpPr>
        <p:spPr>
          <a:xfrm>
            <a:off x="7269480" y="1965960"/>
            <a:ext cx="1417320" cy="548640"/>
          </a:xfrm>
          <a:prstGeom prst="roundRect">
            <a:avLst>
              <a:gd name="adj" fmla="val 13333"/>
            </a:avLst>
          </a:prstGeom>
          <a:solidFill>
            <a:srgbClr val="0F2340"/>
          </a:solidFill>
          <a:ln/>
        </p:spPr>
        <p:txBody>
          <a:bodyPr wrap="square" lIns="38100" tIns="38100" rIns="38100" bIns="381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Notify / Human Review</a:t>
            </a:r>
            <a:endParaRPr lang="en-US" sz="1300" dirty="0"/>
          </a:p>
        </p:txBody>
      </p:sp>
      <p:sp>
        <p:nvSpPr>
          <p:cNvPr id="21" name="Text 19"/>
          <p:cNvSpPr txBox="1"/>
          <p:nvPr/>
        </p:nvSpPr>
        <p:spPr>
          <a:xfrm>
            <a:off x="457200" y="3063240"/>
            <a:ext cx="8229600" cy="365760"/>
          </a:xfrm>
          <a:prstGeom prst="rect">
            <a:avLst/>
          </a:prstGeom>
          <a:solidFill>
            <a:schemeClr val="bg1">
              <a:lumMod val="95000"/>
            </a:schemeClr>
          </a:solid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Approved / normal → Processing notification     |     Exception → Human review alert</a:t>
            </a:r>
            <a:endParaRPr lang="en-US" sz="1300" b="1" dirty="0"/>
          </a:p>
        </p:txBody>
      </p:sp>
      <p:sp>
        <p:nvSpPr>
          <p:cNvPr id="22" name="Text 20"/>
          <p:cNvSpPr/>
          <p:nvPr/>
        </p:nvSpPr>
        <p:spPr>
          <a:xfrm>
            <a:off x="457200" y="3771900"/>
            <a:ext cx="8229600" cy="548640"/>
          </a:xfrm>
          <a:prstGeom prst="rect">
            <a:avLst/>
          </a:prstGeom>
          <a:solidFill>
            <a:schemeClr val="accent5">
              <a:lumMod val="20000"/>
              <a:lumOff val="80000"/>
            </a:schemeClr>
          </a:solidFill>
          <a:ln/>
        </p:spPr>
        <p:txBody>
          <a:bodyPr wrap="square" lIns="127000" tIns="127000" rIns="127000" bIns="127000" rtlCol="0" anchor="ctr"/>
          <a:lstStyle/>
          <a:p>
            <a:pPr marL="0" indent="0">
              <a:buNone/>
            </a:pPr>
            <a:r>
              <a:rPr lang="en-US" sz="1500" b="1" dirty="0">
                <a:solidFill>
                  <a:srgbClr val="0F2340"/>
                </a:solidFill>
                <a:latin typeface="Calibri" pitchFamily="34" charset="0"/>
                <a:ea typeface="Calibri" pitchFamily="34" charset="-122"/>
                <a:cs typeface="Calibri" pitchFamily="34" charset="-120"/>
              </a:rPr>
              <a:t>Core principle: </a:t>
            </a:r>
            <a:r>
              <a:rPr lang="en-US" sz="1500" b="1" i="1" dirty="0">
                <a:solidFill>
                  <a:srgbClr val="0F2340"/>
                </a:solidFill>
                <a:latin typeface="Calibri" pitchFamily="34" charset="0"/>
                <a:ea typeface="Calibri" pitchFamily="34" charset="-122"/>
                <a:cs typeface="Calibri" pitchFamily="34" charset="-120"/>
              </a:rPr>
              <a:t>AI handles unstructured extraction; deterministic business rules handle validation, matching and the final decision.</a:t>
            </a:r>
            <a:endParaRPr lang="en-US" sz="1500" b="1"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Technology Stack</a:t>
            </a:r>
            <a:endParaRPr lang="en-US" sz="2800" dirty="0"/>
          </a:p>
        </p:txBody>
      </p:sp>
      <p:sp>
        <p:nvSpPr>
          <p:cNvPr id="3" name="Text 1"/>
          <p:cNvSpPr txBox="1"/>
          <p:nvPr/>
        </p:nvSpPr>
        <p:spPr>
          <a:xfrm>
            <a:off x="457200" y="841466"/>
            <a:ext cx="8229600" cy="320040"/>
          </a:xfrm>
          <a:prstGeom prst="rect">
            <a:avLst/>
          </a:prstGeom>
          <a:solidFill>
            <a:schemeClr val="bg1">
              <a:lumMod val="95000"/>
            </a:schemeClr>
          </a:solidFill>
          <a:ln/>
        </p:spPr>
        <p:txBody>
          <a:bodyPr wrap="square" lIns="0" tIns="0" rIns="0" bIns="0" rtlCol="0" anchor="ctr"/>
          <a:lstStyle/>
          <a:p>
            <a:pPr marL="0" indent="0">
              <a:buNone/>
            </a:pPr>
            <a:r>
              <a:rPr lang="en-US" sz="1400" b="1" dirty="0">
                <a:solidFill>
                  <a:srgbClr val="4B5563"/>
                </a:solidFill>
                <a:latin typeface="Calibri" pitchFamily="34" charset="0"/>
                <a:ea typeface="Calibri" pitchFamily="34" charset="-122"/>
                <a:cs typeface="Calibri" pitchFamily="34" charset="-120"/>
              </a:rPr>
              <a:t>Workflow automation + LLM + business rules + human-in-the-loop</a:t>
            </a:r>
            <a:endParaRPr lang="en-US" sz="1400" b="1" dirty="0"/>
          </a:p>
        </p:txBody>
      </p:sp>
      <p:graphicFrame>
        <p:nvGraphicFramePr>
          <p:cNvPr id="7" name="Table 0"/>
          <p:cNvGraphicFramePr>
            <a:graphicFrameLocks noGrp="1"/>
          </p:cNvGraphicFramePr>
          <p:nvPr>
            <p:extLst>
              <p:ext uri="{D42A27DB-BD31-4B8C-83A1-F6EECF244321}">
                <p14:modId xmlns:p14="http://schemas.microsoft.com/office/powerpoint/2010/main" val="4289716845"/>
              </p:ext>
            </p:extLst>
          </p:nvPr>
        </p:nvGraphicFramePr>
        <p:xfrm>
          <a:off x="457200" y="1500052"/>
          <a:ext cx="8229600" cy="3017520"/>
        </p:xfrm>
        <a:graphic>
          <a:graphicData uri="http://schemas.openxmlformats.org/drawingml/2006/table">
            <a:tbl>
              <a:tblPr/>
              <a:tblGrid>
                <a:gridCol w="25603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29184">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Purpose</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n8n Cloud</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Workflow orchestration and automation</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Gmail</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Invoice email trigger and notifications</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Google Drive</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Storage of original invoice PDFs</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Google Gemini</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AI-based invoice information extraction</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Structured Output Parser</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Converts AI output into structured JSON</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JavaScript (n8n Code)</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Validation, duplicate detection, decision logic</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Google Sheets</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PO Master and Invoice Log</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Human-in-the-Loop</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600" dirty="0">
                          <a:solidFill>
                            <a:srgbClr val="1F2937"/>
                          </a:solidFill>
                          <a:latin typeface="Calibri" pitchFamily="34" charset="0"/>
                          <a:ea typeface="Calibri" pitchFamily="34" charset="-122"/>
                          <a:cs typeface="Calibri" pitchFamily="34" charset="-120"/>
                        </a:rPr>
                        <a:t>Handles exceptions needing manual review</a:t>
                      </a:r>
                      <a:endParaRPr lang="en-US" sz="16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System Architecture</a:t>
            </a:r>
            <a:endParaRPr lang="en-US" sz="2800" dirty="0"/>
          </a:p>
        </p:txBody>
      </p:sp>
      <p:sp>
        <p:nvSpPr>
          <p:cNvPr id="3" name="Text 1"/>
          <p:cNvSpPr/>
          <p:nvPr/>
        </p:nvSpPr>
        <p:spPr>
          <a:xfrm>
            <a:off x="457200" y="1188720"/>
            <a:ext cx="1737360" cy="640080"/>
          </a:xfrm>
          <a:prstGeom prst="roundRect">
            <a:avLst>
              <a:gd name="adj" fmla="val 11429"/>
            </a:avLst>
          </a:prstGeom>
          <a:solidFill>
            <a:srgbClr val="0F2340"/>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Gmail Invoice Email</a:t>
            </a:r>
            <a:endParaRPr lang="en-US" sz="1200" dirty="0"/>
          </a:p>
        </p:txBody>
      </p:sp>
      <p:sp>
        <p:nvSpPr>
          <p:cNvPr id="4" name="Text 2"/>
          <p:cNvSpPr txBox="1"/>
          <p:nvPr/>
        </p:nvSpPr>
        <p:spPr>
          <a:xfrm>
            <a:off x="2194560" y="118872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5" name="Text 3"/>
          <p:cNvSpPr/>
          <p:nvPr/>
        </p:nvSpPr>
        <p:spPr>
          <a:xfrm>
            <a:off x="2621280" y="1188720"/>
            <a:ext cx="1737360" cy="640080"/>
          </a:xfrm>
          <a:prstGeom prst="roundRect">
            <a:avLst>
              <a:gd name="adj" fmla="val 11429"/>
            </a:avLst>
          </a:prstGeom>
          <a:solidFill>
            <a:srgbClr val="0F2340"/>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n8n Workflow Engine</a:t>
            </a:r>
            <a:endParaRPr lang="en-US" sz="1200" dirty="0"/>
          </a:p>
        </p:txBody>
      </p:sp>
      <p:sp>
        <p:nvSpPr>
          <p:cNvPr id="6" name="Text 4"/>
          <p:cNvSpPr txBox="1"/>
          <p:nvPr/>
        </p:nvSpPr>
        <p:spPr>
          <a:xfrm>
            <a:off x="4358640" y="118872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7" name="Text 5"/>
          <p:cNvSpPr/>
          <p:nvPr/>
        </p:nvSpPr>
        <p:spPr>
          <a:xfrm>
            <a:off x="4785360" y="1188720"/>
            <a:ext cx="1737360" cy="640080"/>
          </a:xfrm>
          <a:prstGeom prst="roundRect">
            <a:avLst>
              <a:gd name="adj" fmla="val 11429"/>
            </a:avLst>
          </a:prstGeom>
          <a:solidFill>
            <a:srgbClr val="0F2340"/>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PDF Text Extraction</a:t>
            </a:r>
            <a:endParaRPr lang="en-US" sz="1200" dirty="0"/>
          </a:p>
        </p:txBody>
      </p:sp>
      <p:sp>
        <p:nvSpPr>
          <p:cNvPr id="8" name="Text 6"/>
          <p:cNvSpPr txBox="1"/>
          <p:nvPr/>
        </p:nvSpPr>
        <p:spPr>
          <a:xfrm>
            <a:off x="6522720" y="118872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9" name="Text 7"/>
          <p:cNvSpPr/>
          <p:nvPr/>
        </p:nvSpPr>
        <p:spPr>
          <a:xfrm>
            <a:off x="6949440" y="1188720"/>
            <a:ext cx="1737360" cy="640080"/>
          </a:xfrm>
          <a:prstGeom prst="roundRect">
            <a:avLst>
              <a:gd name="adj" fmla="val 11429"/>
            </a:avLst>
          </a:prstGeom>
          <a:solidFill>
            <a:srgbClr val="0F2340"/>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Google Gemini</a:t>
            </a:r>
            <a:endParaRPr lang="en-US" sz="1200" dirty="0"/>
          </a:p>
        </p:txBody>
      </p:sp>
      <p:sp>
        <p:nvSpPr>
          <p:cNvPr id="10" name="Text 8"/>
          <p:cNvSpPr/>
          <p:nvPr/>
        </p:nvSpPr>
        <p:spPr>
          <a:xfrm>
            <a:off x="457200" y="2194560"/>
            <a:ext cx="1737360" cy="640080"/>
          </a:xfrm>
          <a:prstGeom prst="roundRect">
            <a:avLst>
              <a:gd name="adj" fmla="val 11429"/>
            </a:avLst>
          </a:prstGeom>
          <a:solidFill>
            <a:srgbClr val="0E9AA7"/>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Validation &amp; Business Rules</a:t>
            </a:r>
            <a:endParaRPr lang="en-US" sz="1200" dirty="0"/>
          </a:p>
        </p:txBody>
      </p:sp>
      <p:sp>
        <p:nvSpPr>
          <p:cNvPr id="11" name="Text 9"/>
          <p:cNvSpPr txBox="1"/>
          <p:nvPr/>
        </p:nvSpPr>
        <p:spPr>
          <a:xfrm>
            <a:off x="2194560" y="219456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2" name="Text 10"/>
          <p:cNvSpPr/>
          <p:nvPr/>
        </p:nvSpPr>
        <p:spPr>
          <a:xfrm>
            <a:off x="2621280" y="2194560"/>
            <a:ext cx="1737360" cy="640080"/>
          </a:xfrm>
          <a:prstGeom prst="roundRect">
            <a:avLst>
              <a:gd name="adj" fmla="val 11429"/>
            </a:avLst>
          </a:prstGeom>
          <a:solidFill>
            <a:srgbClr val="0E9AA7"/>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Decision Engine</a:t>
            </a:r>
            <a:endParaRPr lang="en-US" sz="1200" dirty="0"/>
          </a:p>
        </p:txBody>
      </p:sp>
      <p:sp>
        <p:nvSpPr>
          <p:cNvPr id="13" name="Text 11"/>
          <p:cNvSpPr txBox="1"/>
          <p:nvPr/>
        </p:nvSpPr>
        <p:spPr>
          <a:xfrm>
            <a:off x="4358640" y="219456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4" name="Text 12"/>
          <p:cNvSpPr/>
          <p:nvPr/>
        </p:nvSpPr>
        <p:spPr>
          <a:xfrm>
            <a:off x="4785360" y="2194560"/>
            <a:ext cx="1737360" cy="640080"/>
          </a:xfrm>
          <a:prstGeom prst="roundRect">
            <a:avLst>
              <a:gd name="adj" fmla="val 11429"/>
            </a:avLst>
          </a:prstGeom>
          <a:solidFill>
            <a:srgbClr val="0E9AA7"/>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Google Sheets PO / Log</a:t>
            </a:r>
            <a:endParaRPr lang="en-US" sz="1200" dirty="0"/>
          </a:p>
        </p:txBody>
      </p:sp>
      <p:sp>
        <p:nvSpPr>
          <p:cNvPr id="15" name="Text 13"/>
          <p:cNvSpPr txBox="1"/>
          <p:nvPr/>
        </p:nvSpPr>
        <p:spPr>
          <a:xfrm>
            <a:off x="6522720" y="2194560"/>
            <a:ext cx="426720" cy="640080"/>
          </a:xfrm>
          <a:prstGeom prst="rect">
            <a:avLst/>
          </a:prstGeom>
          <a:noFill/>
          <a:ln/>
        </p:spPr>
        <p:txBody>
          <a:bodyPr wrap="square" lIns="0" tIns="0" rIns="0" bIns="0" rtlCol="0" anchor="ctr"/>
          <a:lstStyle/>
          <a:p>
            <a:pPr marL="0" indent="0" algn="ctr">
              <a:buNone/>
            </a:pPr>
            <a:r>
              <a:rPr lang="en-US" sz="1400" b="1" dirty="0">
                <a:solidFill>
                  <a:srgbClr val="0E9AA7"/>
                </a:solidFill>
              </a:rPr>
              <a:t>→</a:t>
            </a:r>
            <a:endParaRPr lang="en-US" sz="1400" b="1" dirty="0"/>
          </a:p>
        </p:txBody>
      </p:sp>
      <p:sp>
        <p:nvSpPr>
          <p:cNvPr id="16" name="Text 14"/>
          <p:cNvSpPr/>
          <p:nvPr/>
        </p:nvSpPr>
        <p:spPr>
          <a:xfrm>
            <a:off x="6949440" y="2194560"/>
            <a:ext cx="1737360" cy="640080"/>
          </a:xfrm>
          <a:prstGeom prst="roundRect">
            <a:avLst>
              <a:gd name="adj" fmla="val 11429"/>
            </a:avLst>
          </a:prstGeom>
          <a:solidFill>
            <a:srgbClr val="0E9AA7"/>
          </a:solidFill>
          <a:ln/>
        </p:spPr>
        <p:txBody>
          <a:bodyPr wrap="square" lIns="38100" tIns="38100" rIns="38100" bIns="381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Gmail Notification</a:t>
            </a:r>
            <a:endParaRPr lang="en-US" sz="1200" dirty="0"/>
          </a:p>
        </p:txBody>
      </p:sp>
      <p:sp>
        <p:nvSpPr>
          <p:cNvPr id="17" name="Text 15"/>
          <p:cNvSpPr txBox="1"/>
          <p:nvPr/>
        </p:nvSpPr>
        <p:spPr>
          <a:xfrm>
            <a:off x="457200" y="3291840"/>
            <a:ext cx="8229600" cy="128016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dirty="0">
                <a:solidFill>
                  <a:srgbClr val="1F2937"/>
                </a:solidFill>
                <a:latin typeface="Calibri" pitchFamily="34" charset="0"/>
                <a:ea typeface="Calibri" pitchFamily="34" charset="-122"/>
                <a:cs typeface="Calibri" pitchFamily="34" charset="-120"/>
              </a:rPr>
              <a:t>Google Drive keeps the original invoice PDF</a:t>
            </a:r>
            <a:endParaRPr lang="en-US" dirty="0"/>
          </a:p>
          <a:p>
            <a:pPr marL="342900" indent="-342900">
              <a:spcAft>
                <a:spcPts val="500"/>
              </a:spcAft>
              <a:buSzPct val="100000"/>
              <a:buChar char="•"/>
            </a:pPr>
            <a:r>
              <a:rPr lang="en-US" dirty="0">
                <a:solidFill>
                  <a:srgbClr val="1F2937"/>
                </a:solidFill>
                <a:latin typeface="Calibri" pitchFamily="34" charset="0"/>
                <a:ea typeface="Calibri" pitchFamily="34" charset="-122"/>
                <a:cs typeface="Calibri" pitchFamily="34" charset="-120"/>
              </a:rPr>
              <a:t>Google Sheets holds the PO Master and Invoice_Log</a:t>
            </a:r>
            <a:endParaRPr lang="en-US" dirty="0"/>
          </a:p>
          <a:p>
            <a:pPr marL="342900" indent="-342900">
              <a:spcAft>
                <a:spcPts val="500"/>
              </a:spcAft>
              <a:buSzPct val="100000"/>
              <a:buChar char="•"/>
            </a:pPr>
            <a:r>
              <a:rPr lang="en-US" dirty="0">
                <a:solidFill>
                  <a:srgbClr val="1F2937"/>
                </a:solidFill>
                <a:latin typeface="Calibri" pitchFamily="34" charset="0"/>
                <a:ea typeface="Calibri" pitchFamily="34" charset="-122"/>
                <a:cs typeface="Calibri" pitchFamily="34" charset="-120"/>
              </a:rPr>
              <a:t>Exceptions go to a human reviewer instead of auto-approval</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Final Implemented n8n Workflow</a:t>
            </a:r>
            <a:endParaRPr lang="en-US" sz="2800" dirty="0"/>
          </a:p>
        </p:txBody>
      </p:sp>
      <p:pic>
        <p:nvPicPr>
          <p:cNvPr id="3" name="Image 0" descr="/mnt/user-data/uploads/ChatGPT_Image_Sep_28__2026__07_11_14_PM.png"/>
          <p:cNvPicPr>
            <a:picLocks noChangeAspect="1"/>
          </p:cNvPicPr>
          <p:nvPr/>
        </p:nvPicPr>
        <p:blipFill>
          <a:blip r:embed="rId3"/>
          <a:stretch>
            <a:fillRect/>
          </a:stretch>
        </p:blipFill>
        <p:spPr>
          <a:xfrm>
            <a:off x="457200" y="927247"/>
            <a:ext cx="8229600" cy="3272316"/>
          </a:xfrm>
          <a:prstGeom prst="rect">
            <a:avLst/>
          </a:prstGeom>
          <a:effectLst>
            <a:outerShdw blurRad="76200" dist="25400" dir="5400000" algn="bl" rotWithShape="0">
              <a:srgbClr val="000000">
                <a:alpha val="20000"/>
              </a:srgbClr>
            </a:outerShdw>
          </a:effectLst>
        </p:spPr>
      </p:pic>
      <p:sp>
        <p:nvSpPr>
          <p:cNvPr id="4" name="Text 1"/>
          <p:cNvSpPr txBox="1"/>
          <p:nvPr/>
        </p:nvSpPr>
        <p:spPr>
          <a:xfrm>
            <a:off x="365760" y="4199563"/>
            <a:ext cx="841248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Fig. Final workflow with supporting Google Drive, Gemini and Output Parser components</a:t>
            </a:r>
            <a:endParaRPr lang="en-US" sz="900" dirty="0"/>
          </a:p>
        </p:txBody>
      </p:sp>
      <p:sp>
        <p:nvSpPr>
          <p:cNvPr id="5" name="Text 2"/>
          <p:cNvSpPr txBox="1"/>
          <p:nvPr/>
        </p:nvSpPr>
        <p:spPr>
          <a:xfrm>
            <a:off x="457200" y="4472214"/>
            <a:ext cx="8229600" cy="336731"/>
          </a:xfrm>
          <a:prstGeom prst="rect">
            <a:avLst/>
          </a:prstGeom>
          <a:solidFill>
            <a:schemeClr val="bg1">
              <a:lumMod val="85000"/>
            </a:schemeClr>
          </a:solidFill>
          <a:ln/>
        </p:spPr>
        <p:txBody>
          <a:bodyPr wrap="square" lIns="0" tIns="0" rIns="0" bIns="0" rtlCol="0" anchor="t"/>
          <a:lstStyle/>
          <a:p>
            <a:pPr marL="342900" indent="-342900" algn="ctr">
              <a:lnSpc>
                <a:spcPct val="150000"/>
              </a:lnSpc>
              <a:spcAft>
                <a:spcPts val="500"/>
              </a:spcAft>
              <a:buSzPct val="100000"/>
              <a:buChar char="•"/>
            </a:pPr>
            <a:r>
              <a:rPr lang="en-US" sz="1300" b="1" dirty="0">
                <a:solidFill>
                  <a:srgbClr val="1F2937"/>
                </a:solidFill>
                <a:latin typeface="Calibri" pitchFamily="34" charset="0"/>
                <a:ea typeface="Calibri" pitchFamily="34" charset="-122"/>
                <a:cs typeface="Calibri" pitchFamily="34" charset="-120"/>
              </a:rPr>
              <a:t>Trigger → retrieve → extract text → Gemini → validate → duplicate check → PO check → decision → log → route</a:t>
            </a:r>
            <a:endParaRPr lang="en-US" sz="13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solidFill>
            <a:srgbClr val="FFFFFF"/>
          </a:solid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AI-Powered Invoice Extraction</a:t>
            </a:r>
            <a:endParaRPr lang="en-US" sz="2800" dirty="0"/>
          </a:p>
        </p:txBody>
      </p:sp>
      <p:sp>
        <p:nvSpPr>
          <p:cNvPr id="3" name="Text 1"/>
          <p:cNvSpPr txBox="1"/>
          <p:nvPr/>
        </p:nvSpPr>
        <p:spPr>
          <a:xfrm>
            <a:off x="457200" y="804672"/>
            <a:ext cx="8229600" cy="320040"/>
          </a:xfrm>
          <a:prstGeom prst="rect">
            <a:avLst/>
          </a:prstGeom>
          <a:solidFill>
            <a:schemeClr val="bg1">
              <a:lumMod val="85000"/>
            </a:schemeClr>
          </a:solidFill>
          <a:ln/>
        </p:spPr>
        <p:txBody>
          <a:bodyPr wrap="square" lIns="0" tIns="0" rIns="0" bIns="0" rtlCol="0" anchor="ctr"/>
          <a:lstStyle/>
          <a:p>
            <a:pPr marL="0" indent="0">
              <a:buNone/>
            </a:pPr>
            <a:r>
              <a:rPr lang="en-US" sz="1300" b="1" dirty="0">
                <a:solidFill>
                  <a:srgbClr val="4B5563"/>
                </a:solidFill>
                <a:latin typeface="Calibri" pitchFamily="34" charset="0"/>
                <a:ea typeface="Calibri" pitchFamily="34" charset="-122"/>
                <a:cs typeface="Calibri" pitchFamily="34" charset="-120"/>
              </a:rPr>
              <a:t>Gemini converts unstructured invoice text into structured JSON</a:t>
            </a:r>
            <a:endParaRPr lang="en-US" sz="1300" b="1" dirty="0"/>
          </a:p>
        </p:txBody>
      </p:sp>
      <p:sp>
        <p:nvSpPr>
          <p:cNvPr id="4" name="Text 2"/>
          <p:cNvSpPr txBox="1"/>
          <p:nvPr/>
        </p:nvSpPr>
        <p:spPr>
          <a:xfrm>
            <a:off x="457200" y="1280160"/>
            <a:ext cx="4114800" cy="274320"/>
          </a:xfrm>
          <a:prstGeom prst="rect">
            <a:avLst/>
          </a:prstGeom>
          <a:noFill/>
          <a:ln/>
        </p:spPr>
        <p:txBody>
          <a:bodyPr wrap="square" lIns="0" tIns="0" rIns="0" bIns="0" rtlCol="0" anchor="ctr"/>
          <a:lstStyle/>
          <a:p>
            <a:pPr marL="0" indent="0">
              <a:buNone/>
            </a:pPr>
            <a:r>
              <a:rPr lang="en-US" sz="1400" b="1" dirty="0">
                <a:solidFill>
                  <a:srgbClr val="0E9AA7"/>
                </a:solidFill>
                <a:latin typeface="Calibri" pitchFamily="34" charset="0"/>
                <a:ea typeface="Calibri" pitchFamily="34" charset="-122"/>
                <a:cs typeface="Calibri" pitchFamily="34" charset="-120"/>
              </a:rPr>
              <a:t>Extracted fields</a:t>
            </a:r>
            <a:endParaRPr lang="en-US" sz="1400" dirty="0"/>
          </a:p>
        </p:txBody>
      </p:sp>
      <p:sp>
        <p:nvSpPr>
          <p:cNvPr id="5" name="Text 3"/>
          <p:cNvSpPr txBox="1"/>
          <p:nvPr/>
        </p:nvSpPr>
        <p:spPr>
          <a:xfrm>
            <a:off x="457200" y="1600200"/>
            <a:ext cx="4114800" cy="146304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Invoice number, vendor name</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Invoice date, due date</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PO number</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Subtotal, tax, total amount</a:t>
            </a:r>
            <a:endParaRPr lang="en-US" sz="1300" dirty="0"/>
          </a:p>
          <a:p>
            <a:pPr marL="342900" indent="-342900">
              <a:spcAft>
                <a:spcPts val="500"/>
              </a:spcAft>
              <a:buSzPct val="100000"/>
              <a:buChar char="•"/>
            </a:pPr>
            <a:r>
              <a:rPr lang="en-US" sz="1300" dirty="0">
                <a:solidFill>
                  <a:srgbClr val="1F2937"/>
                </a:solidFill>
                <a:latin typeface="Calibri" pitchFamily="34" charset="0"/>
                <a:ea typeface="Calibri" pitchFamily="34" charset="-122"/>
                <a:cs typeface="Calibri" pitchFamily="34" charset="-120"/>
              </a:rPr>
              <a:t>Currency</a:t>
            </a:r>
            <a:endParaRPr lang="en-US" sz="1300" dirty="0"/>
          </a:p>
        </p:txBody>
      </p:sp>
      <p:sp>
        <p:nvSpPr>
          <p:cNvPr id="6" name="Text 4"/>
          <p:cNvSpPr/>
          <p:nvPr/>
        </p:nvSpPr>
        <p:spPr>
          <a:xfrm>
            <a:off x="457200" y="3017520"/>
            <a:ext cx="4114800" cy="1508760"/>
          </a:xfrm>
          <a:prstGeom prst="rect">
            <a:avLst/>
          </a:prstGeom>
          <a:solidFill>
            <a:srgbClr val="1E293B"/>
          </a:solidFill>
          <a:ln/>
        </p:spPr>
        <p:txBody>
          <a:bodyPr wrap="square" lIns="101600" tIns="101600" rIns="101600" bIns="101600" rtlCol="0" anchor="ctr"/>
          <a:lstStyle/>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"invoice_number": "INV-1008",</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"vendor_name": "ABC Supplies Pvt Ltd",</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"invoice_date": "2026-09-28",</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"subtotal": 40000, "tax": 5000,</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"total_amount": 50000,</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"currency": "INR",</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"po_number": "PO-501"</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p:txBody>
      </p:sp>
      <p:pic>
        <p:nvPicPr>
          <p:cNvPr id="7" name="Image 0" descr="/home/claude/shots/Screenshots/03_Gemini_Invoice_Extraction.png"/>
          <p:cNvPicPr>
            <a:picLocks noChangeAspect="1"/>
          </p:cNvPicPr>
          <p:nvPr/>
        </p:nvPicPr>
        <p:blipFill>
          <a:blip r:embed="rId3"/>
          <a:stretch>
            <a:fillRect/>
          </a:stretch>
        </p:blipFill>
        <p:spPr>
          <a:xfrm>
            <a:off x="5524500" y="1280160"/>
            <a:ext cx="2667000" cy="3200400"/>
          </a:xfrm>
          <a:prstGeom prst="rect">
            <a:avLst/>
          </a:prstGeom>
          <a:solidFill>
            <a:srgbClr val="FFFFFF"/>
          </a:solidFill>
          <a:effectLst>
            <a:outerShdw blurRad="76200" dist="25400" dir="5400000" algn="bl" rotWithShape="0">
              <a:srgbClr val="000000">
                <a:alpha val="20000"/>
              </a:srgbClr>
            </a:outerShdw>
          </a:effectLst>
        </p:spPr>
      </p:pic>
      <p:sp>
        <p:nvSpPr>
          <p:cNvPr id="8" name="Text 5"/>
          <p:cNvSpPr txBox="1"/>
          <p:nvPr/>
        </p:nvSpPr>
        <p:spPr>
          <a:xfrm>
            <a:off x="5029200" y="4507992"/>
            <a:ext cx="365760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Gemini structured output</a:t>
            </a:r>
            <a:endParaRPr lang="en-US" sz="900" dirty="0"/>
          </a:p>
        </p:txBody>
      </p:sp>
      <p:sp>
        <p:nvSpPr>
          <p:cNvPr id="9" name="Text 6"/>
          <p:cNvSpPr txBox="1"/>
          <p:nvPr/>
        </p:nvSpPr>
        <p:spPr>
          <a:xfrm>
            <a:off x="457200" y="4572000"/>
            <a:ext cx="8229600" cy="274320"/>
          </a:xfrm>
          <a:prstGeom prst="rect">
            <a:avLst/>
          </a:prstGeom>
          <a:noFill/>
          <a:ln/>
        </p:spPr>
        <p:txBody>
          <a:bodyPr wrap="square" lIns="0" tIns="0" rIns="0" bIns="0" rtlCol="0" anchor="ctr"/>
          <a:lstStyle/>
          <a:p>
            <a:pPr marL="0" indent="0">
              <a:buNone/>
            </a:pPr>
            <a:r>
              <a:rPr lang="en-US" sz="1200" b="1" dirty="0">
                <a:solidFill>
                  <a:srgbClr val="0E9AA7"/>
                </a:solidFill>
                <a:latin typeface="Calibri" pitchFamily="34" charset="0"/>
                <a:ea typeface="Calibri" pitchFamily="34" charset="-122"/>
                <a:cs typeface="Calibri" pitchFamily="34" charset="-120"/>
              </a:rPr>
              <a:t>The LLM extracts information; it does not make the approval decision.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Invoice Data Validation</a:t>
            </a:r>
            <a:endParaRPr lang="en-US" sz="2800" dirty="0"/>
          </a:p>
        </p:txBody>
      </p:sp>
      <p:sp>
        <p:nvSpPr>
          <p:cNvPr id="3" name="Text 1"/>
          <p:cNvSpPr txBox="1"/>
          <p:nvPr/>
        </p:nvSpPr>
        <p:spPr>
          <a:xfrm>
            <a:off x="457200" y="862229"/>
            <a:ext cx="8229600" cy="32004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Deterministic rules run after AI extraction</a:t>
            </a:r>
            <a:endParaRPr lang="en-US" sz="1300" i="1" dirty="0"/>
          </a:p>
        </p:txBody>
      </p:sp>
      <p:sp>
        <p:nvSpPr>
          <p:cNvPr id="4" name="Text 2"/>
          <p:cNvSpPr txBox="1"/>
          <p:nvPr/>
        </p:nvSpPr>
        <p:spPr>
          <a:xfrm>
            <a:off x="457200" y="1371600"/>
            <a:ext cx="3840480" cy="1554480"/>
          </a:xfrm>
          <a:prstGeom prst="rect">
            <a:avLst/>
          </a:prstGeom>
          <a:solidFill>
            <a:schemeClr val="accent5">
              <a:lumMod val="20000"/>
              <a:lumOff val="80000"/>
            </a:schemeClr>
          </a:solidFill>
          <a:ln/>
        </p:spPr>
        <p:txBody>
          <a:bodyPr wrap="square" lIns="0" tIns="0" rIns="0" bIns="0" rtlCol="0" anchor="t"/>
          <a:lstStyle/>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Invoice number, vendor, invoice date exist</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PO number exists</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Subtotal, tax, total exist</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Subtotal + Tax = Total Amount</a:t>
            </a:r>
            <a:endParaRPr lang="en-US" sz="1500" dirty="0"/>
          </a:p>
        </p:txBody>
      </p:sp>
      <p:sp>
        <p:nvSpPr>
          <p:cNvPr id="5" name="Text 3"/>
          <p:cNvSpPr/>
          <p:nvPr/>
        </p:nvSpPr>
        <p:spPr>
          <a:xfrm>
            <a:off x="457200" y="3108960"/>
            <a:ext cx="3840480" cy="1097280"/>
          </a:xfrm>
          <a:prstGeom prst="rect">
            <a:avLst/>
          </a:prstGeom>
          <a:solidFill>
            <a:srgbClr val="E6F6F7"/>
          </a:solidFill>
          <a:ln/>
        </p:spPr>
        <p:txBody>
          <a:bodyPr wrap="square" lIns="127000" tIns="127000" rIns="127000" bIns="127000" rtlCol="0" anchor="ctr"/>
          <a:lstStyle/>
          <a:p>
            <a:pPr marL="0" indent="0">
              <a:buNone/>
            </a:pPr>
            <a:r>
              <a:rPr lang="en-US" sz="1300" b="1" dirty="0">
                <a:solidFill>
                  <a:srgbClr val="0F2340"/>
                </a:solidFill>
                <a:latin typeface="Calibri" pitchFamily="34" charset="0"/>
                <a:ea typeface="Calibri" pitchFamily="34" charset="-122"/>
                <a:cs typeface="Calibri" pitchFamily="34" charset="-120"/>
              </a:rPr>
              <a:t>Example: 40,000 + 5,000 = 45,000, but invoice total = 50,000 → INVALID → HUMAN REVIEW</a:t>
            </a:r>
            <a:endParaRPr lang="en-US" sz="1300" dirty="0"/>
          </a:p>
        </p:txBody>
      </p:sp>
      <p:pic>
        <p:nvPicPr>
          <p:cNvPr id="6" name="Image 0" descr="/home/claude/shots/Screenshots/04_Invoice_Data_Validation.png"/>
          <p:cNvPicPr>
            <a:picLocks noChangeAspect="1"/>
          </p:cNvPicPr>
          <p:nvPr/>
        </p:nvPicPr>
        <p:blipFill>
          <a:blip r:embed="rId3"/>
          <a:stretch>
            <a:fillRect/>
          </a:stretch>
        </p:blipFill>
        <p:spPr>
          <a:xfrm>
            <a:off x="4572000" y="1398372"/>
            <a:ext cx="4114800" cy="3055417"/>
          </a:xfrm>
          <a:prstGeom prst="rect">
            <a:avLst/>
          </a:prstGeom>
          <a:effectLst>
            <a:outerShdw blurRad="76200" dist="25400" dir="5400000" algn="bl" rotWithShape="0">
              <a:srgbClr val="000000">
                <a:alpha val="20000"/>
              </a:srgbClr>
            </a:outerShdw>
          </a:effectLst>
        </p:spPr>
      </p:pic>
      <p:sp>
        <p:nvSpPr>
          <p:cNvPr id="7" name="Text 4"/>
          <p:cNvSpPr txBox="1"/>
          <p:nvPr/>
        </p:nvSpPr>
        <p:spPr>
          <a:xfrm>
            <a:off x="4572000" y="4599432"/>
            <a:ext cx="411480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Validation output (INV-1008)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Duplicate Detection &amp; PO Matching</a:t>
            </a:r>
            <a:endParaRPr lang="en-US" sz="2800" dirty="0"/>
          </a:p>
        </p:txBody>
      </p:sp>
      <p:sp>
        <p:nvSpPr>
          <p:cNvPr id="3" name="Text 1"/>
          <p:cNvSpPr txBox="1"/>
          <p:nvPr/>
        </p:nvSpPr>
        <p:spPr>
          <a:xfrm>
            <a:off x="457200" y="1097280"/>
            <a:ext cx="3931920" cy="274320"/>
          </a:xfrm>
          <a:prstGeom prst="rect">
            <a:avLst/>
          </a:prstGeom>
          <a:solidFill>
            <a:schemeClr val="bg1">
              <a:lumMod val="85000"/>
            </a:schemeClr>
          </a:solidFill>
          <a:ln/>
        </p:spPr>
        <p:txBody>
          <a:bodyPr wrap="square" lIns="0" tIns="0" rIns="0" bIns="0" rtlCol="0" anchor="ctr"/>
          <a:lstStyle/>
          <a:p>
            <a:pPr marL="0" indent="0">
              <a:buNone/>
            </a:pPr>
            <a:r>
              <a:rPr lang="en-US" sz="1400" b="1" dirty="0">
                <a:solidFill>
                  <a:srgbClr val="0E9AA7"/>
                </a:solidFill>
                <a:latin typeface="Calibri" pitchFamily="34" charset="0"/>
                <a:ea typeface="Calibri" pitchFamily="34" charset="-122"/>
                <a:cs typeface="Calibri" pitchFamily="34" charset="-120"/>
              </a:rPr>
              <a:t>Duplicate detection</a:t>
            </a:r>
            <a:endParaRPr lang="en-US" sz="1400" dirty="0"/>
          </a:p>
        </p:txBody>
      </p:sp>
      <p:sp>
        <p:nvSpPr>
          <p:cNvPr id="4" name="Text 2"/>
          <p:cNvSpPr txBox="1"/>
          <p:nvPr/>
        </p:nvSpPr>
        <p:spPr>
          <a:xfrm>
            <a:off x="457200" y="1417320"/>
            <a:ext cx="3931920" cy="82296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Invoice number searched in Invoice_Log</a:t>
            </a:r>
            <a:endParaRPr lang="en-US" sz="1200" dirty="0"/>
          </a:p>
          <a:p>
            <a:pPr marL="342900" indent="-3429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Already exists → DUPLICATE → REJECTED</a:t>
            </a:r>
            <a:endParaRPr lang="en-US" sz="1200" b="1" dirty="0"/>
          </a:p>
        </p:txBody>
      </p:sp>
      <p:pic>
        <p:nvPicPr>
          <p:cNvPr id="5" name="Image 0" descr="/home/claude/shots/Screenshots/05_Duplicate_Detection.png"/>
          <p:cNvPicPr>
            <a:picLocks noChangeAspect="1"/>
          </p:cNvPicPr>
          <p:nvPr/>
        </p:nvPicPr>
        <p:blipFill>
          <a:blip r:embed="rId3"/>
          <a:stretch>
            <a:fillRect/>
          </a:stretch>
        </p:blipFill>
        <p:spPr>
          <a:xfrm>
            <a:off x="699628" y="2331720"/>
            <a:ext cx="3447065" cy="2194560"/>
          </a:xfrm>
          <a:prstGeom prst="rect">
            <a:avLst/>
          </a:prstGeom>
          <a:effectLst>
            <a:outerShdw blurRad="76200" dist="25400" dir="5400000" algn="bl" rotWithShape="0">
              <a:srgbClr val="000000">
                <a:alpha val="20000"/>
              </a:srgbClr>
            </a:outerShdw>
          </a:effectLst>
        </p:spPr>
      </p:pic>
      <p:sp>
        <p:nvSpPr>
          <p:cNvPr id="6" name="Text 3"/>
          <p:cNvSpPr txBox="1"/>
          <p:nvPr/>
        </p:nvSpPr>
        <p:spPr>
          <a:xfrm>
            <a:off x="457200" y="4553712"/>
            <a:ext cx="393192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Duplicate detection output</a:t>
            </a:r>
            <a:endParaRPr lang="en-US" sz="900" dirty="0"/>
          </a:p>
        </p:txBody>
      </p:sp>
      <p:sp>
        <p:nvSpPr>
          <p:cNvPr id="7" name="Text 4"/>
          <p:cNvSpPr txBox="1"/>
          <p:nvPr/>
        </p:nvSpPr>
        <p:spPr>
          <a:xfrm>
            <a:off x="4754880" y="1097280"/>
            <a:ext cx="3931920" cy="274320"/>
          </a:xfrm>
          <a:prstGeom prst="rect">
            <a:avLst/>
          </a:prstGeom>
          <a:solidFill>
            <a:schemeClr val="bg1">
              <a:lumMod val="85000"/>
            </a:schemeClr>
          </a:solidFill>
          <a:ln/>
        </p:spPr>
        <p:txBody>
          <a:bodyPr wrap="square" lIns="0" tIns="0" rIns="0" bIns="0" rtlCol="0" anchor="ctr"/>
          <a:lstStyle/>
          <a:p>
            <a:pPr marL="0" indent="0">
              <a:buNone/>
            </a:pPr>
            <a:r>
              <a:rPr lang="en-US" sz="1400" b="1" dirty="0">
                <a:solidFill>
                  <a:srgbClr val="0E9AA7"/>
                </a:solidFill>
                <a:latin typeface="Calibri" pitchFamily="34" charset="0"/>
                <a:ea typeface="Calibri" pitchFamily="34" charset="-122"/>
                <a:cs typeface="Calibri" pitchFamily="34" charset="-120"/>
              </a:rPr>
              <a:t>PO &amp; vendor validation</a:t>
            </a:r>
            <a:endParaRPr lang="en-US" sz="1400" dirty="0"/>
          </a:p>
        </p:txBody>
      </p:sp>
      <p:sp>
        <p:nvSpPr>
          <p:cNvPr id="8" name="Text 5"/>
          <p:cNvSpPr txBox="1"/>
          <p:nvPr/>
        </p:nvSpPr>
        <p:spPr>
          <a:xfrm>
            <a:off x="4754880" y="1417320"/>
            <a:ext cx="3931920" cy="82296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Matches PO number, vendor, amount, currency, PO status</a:t>
            </a:r>
            <a:endParaRPr lang="en-US" sz="1200" dirty="0"/>
          </a:p>
          <a:p>
            <a:pPr marL="342900" indent="-342900">
              <a:spcAft>
                <a:spcPts val="500"/>
              </a:spcAft>
              <a:buSzPct val="100000"/>
              <a:buChar char="•"/>
            </a:pPr>
            <a:r>
              <a:rPr lang="en-US" sz="1200" b="1" dirty="0">
                <a:solidFill>
                  <a:srgbClr val="1F2937"/>
                </a:solidFill>
                <a:latin typeface="Calibri" pitchFamily="34" charset="0"/>
                <a:ea typeface="Calibri" pitchFamily="34" charset="-122"/>
                <a:cs typeface="Calibri" pitchFamily="34" charset="-120"/>
              </a:rPr>
              <a:t>Any mismatch → HUMAN REVIEW</a:t>
            </a:r>
            <a:endParaRPr lang="en-US" sz="1200" b="1" dirty="0"/>
          </a:p>
        </p:txBody>
      </p:sp>
      <p:pic>
        <p:nvPicPr>
          <p:cNvPr id="9" name="Image 1" descr="/home/claude/shots/Screenshots/06_PO_Vendor_Validation.png"/>
          <p:cNvPicPr>
            <a:picLocks noChangeAspect="1"/>
          </p:cNvPicPr>
          <p:nvPr/>
        </p:nvPicPr>
        <p:blipFill>
          <a:blip r:embed="rId4"/>
          <a:stretch>
            <a:fillRect/>
          </a:stretch>
        </p:blipFill>
        <p:spPr>
          <a:xfrm>
            <a:off x="5647371" y="2331720"/>
            <a:ext cx="2146938" cy="2194560"/>
          </a:xfrm>
          <a:prstGeom prst="rect">
            <a:avLst/>
          </a:prstGeom>
          <a:effectLst>
            <a:outerShdw blurRad="76200" dist="25400" dir="5400000" algn="bl" rotWithShape="0">
              <a:srgbClr val="000000">
                <a:alpha val="20000"/>
              </a:srgbClr>
            </a:outerShdw>
          </a:effectLst>
        </p:spPr>
      </p:pic>
      <p:sp>
        <p:nvSpPr>
          <p:cNvPr id="10" name="Text 6"/>
          <p:cNvSpPr txBox="1"/>
          <p:nvPr/>
        </p:nvSpPr>
        <p:spPr>
          <a:xfrm>
            <a:off x="4754880" y="4553712"/>
            <a:ext cx="393192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PO validation output (amount mismatch)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Invoice Decision Engine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dirty="0">
                <a:solidFill>
                  <a:srgbClr val="4B5563"/>
                </a:solidFill>
                <a:latin typeface="Calibri" pitchFamily="34" charset="0"/>
                <a:ea typeface="Calibri" pitchFamily="34" charset="-122"/>
                <a:cs typeface="Calibri" pitchFamily="34" charset="-120"/>
              </a:rPr>
              <a:t>Final decision comes from deterministic business rules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778600807"/>
              </p:ext>
            </p:extLst>
          </p:nvPr>
        </p:nvGraphicFramePr>
        <p:xfrm>
          <a:off x="457200" y="1371600"/>
          <a:ext cx="4206240" cy="2133600"/>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2918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Duplicate invoice</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REJECTED</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Validation failed</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HUMAN REVIEW</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PO / vendor / amount / currency mismatch</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HUMAN REVIEW</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PO not approved</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HUMAN REVIEW</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2918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All checks pass</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APPROVED</a:t>
                      </a:r>
                      <a:endParaRPr lang="en-US" sz="13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7200" y="3672840"/>
            <a:ext cx="4206240" cy="45720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The decision reason is stored for traceability.</a:t>
            </a:r>
            <a:endParaRPr lang="en-US" sz="1300" dirty="0"/>
          </a:p>
        </p:txBody>
      </p:sp>
      <p:pic>
        <p:nvPicPr>
          <p:cNvPr id="6" name="Image 0" descr="/home/claude/shots/Screenshots/07_Approved_Decision.png"/>
          <p:cNvPicPr>
            <a:picLocks noChangeAspect="1"/>
          </p:cNvPicPr>
          <p:nvPr/>
        </p:nvPicPr>
        <p:blipFill>
          <a:blip r:embed="rId3"/>
          <a:stretch>
            <a:fillRect/>
          </a:stretch>
        </p:blipFill>
        <p:spPr>
          <a:xfrm>
            <a:off x="4937760" y="1402373"/>
            <a:ext cx="3749040" cy="2955974"/>
          </a:xfrm>
          <a:prstGeom prst="rect">
            <a:avLst/>
          </a:prstGeom>
          <a:effectLst>
            <a:outerShdw blurRad="76200" dist="25400" dir="5400000" algn="bl" rotWithShape="0">
              <a:srgbClr val="000000">
                <a:alpha val="20000"/>
              </a:srgbClr>
            </a:outerShdw>
          </a:effectLst>
        </p:spPr>
      </p:pic>
      <p:sp>
        <p:nvSpPr>
          <p:cNvPr id="7" name="Text 3"/>
          <p:cNvSpPr txBox="1"/>
          <p:nvPr/>
        </p:nvSpPr>
        <p:spPr>
          <a:xfrm>
            <a:off x="4937760" y="4507992"/>
            <a:ext cx="3749040" cy="228600"/>
          </a:xfrm>
          <a:prstGeom prst="rect">
            <a:avLst/>
          </a:prstGeom>
          <a:solidFill>
            <a:srgbClr val="FFFFFF"/>
          </a:solid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Decision engine output (duplicate → REJECTED)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Human-in-the-Loop</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b="1" dirty="0">
                <a:solidFill>
                  <a:srgbClr val="4B5563"/>
                </a:solidFill>
                <a:latin typeface="Calibri" pitchFamily="34" charset="0"/>
                <a:ea typeface="Calibri" pitchFamily="34" charset="-122"/>
                <a:cs typeface="Calibri" pitchFamily="34" charset="-120"/>
              </a:rPr>
              <a:t>Uncertain cases are reviewed, not auto-approved</a:t>
            </a:r>
            <a:endParaRPr lang="en-US" sz="1300" b="1" dirty="0"/>
          </a:p>
        </p:txBody>
      </p:sp>
      <p:sp>
        <p:nvSpPr>
          <p:cNvPr id="4" name="Text 2"/>
          <p:cNvSpPr txBox="1"/>
          <p:nvPr/>
        </p:nvSpPr>
        <p:spPr>
          <a:xfrm>
            <a:off x="457200" y="1325880"/>
            <a:ext cx="3931920" cy="274320"/>
          </a:xfrm>
          <a:prstGeom prst="rect">
            <a:avLst/>
          </a:prstGeom>
          <a:noFill/>
          <a:ln/>
        </p:spPr>
        <p:txBody>
          <a:bodyPr wrap="square" lIns="0" tIns="0" rIns="0" bIns="0" rtlCol="0" anchor="ctr"/>
          <a:lstStyle/>
          <a:p>
            <a:pPr marL="0" indent="0">
              <a:buNone/>
            </a:pPr>
            <a:r>
              <a:rPr lang="en-US" sz="1500" b="1" dirty="0">
                <a:solidFill>
                  <a:srgbClr val="0E9AA7"/>
                </a:solidFill>
                <a:latin typeface="Calibri" pitchFamily="34" charset="0"/>
                <a:ea typeface="Calibri" pitchFamily="34" charset="-122"/>
                <a:cs typeface="Calibri" pitchFamily="34" charset="-120"/>
              </a:rPr>
              <a:t>A review alert is sent when</a:t>
            </a:r>
            <a:endParaRPr lang="en-US" sz="1500" dirty="0"/>
          </a:p>
        </p:txBody>
      </p:sp>
      <p:sp>
        <p:nvSpPr>
          <p:cNvPr id="5" name="Text 3"/>
          <p:cNvSpPr txBox="1"/>
          <p:nvPr/>
        </p:nvSpPr>
        <p:spPr>
          <a:xfrm>
            <a:off x="457200" y="1645920"/>
            <a:ext cx="3931920" cy="164592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Validation fails</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Amount, vendor or currency mismatches PO</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PO is not approved</a:t>
            </a:r>
            <a:endParaRPr lang="en-US" sz="1500" dirty="0"/>
          </a:p>
          <a:p>
            <a:pPr marL="342900" indent="-3429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Other business-rule exceptions</a:t>
            </a:r>
            <a:endParaRPr lang="en-US" sz="1500" dirty="0"/>
          </a:p>
        </p:txBody>
      </p:sp>
      <p:sp>
        <p:nvSpPr>
          <p:cNvPr id="6" name="Text 4"/>
          <p:cNvSpPr/>
          <p:nvPr/>
        </p:nvSpPr>
        <p:spPr>
          <a:xfrm>
            <a:off x="457200" y="3566160"/>
            <a:ext cx="3931920" cy="548640"/>
          </a:xfrm>
          <a:prstGeom prst="rect">
            <a:avLst/>
          </a:prstGeom>
          <a:solidFill>
            <a:srgbClr val="E6F6F7"/>
          </a:solidFill>
          <a:ln/>
        </p:spPr>
        <p:txBody>
          <a:bodyPr wrap="square" lIns="127000" tIns="127000" rIns="127000" bIns="127000" rtlCol="0" anchor="ctr"/>
          <a:lstStyle/>
          <a:p>
            <a:pPr marL="0" indent="0">
              <a:buNone/>
            </a:pPr>
            <a:r>
              <a:rPr lang="en-US" sz="1300" b="1" dirty="0">
                <a:solidFill>
                  <a:srgbClr val="0F2340"/>
                </a:solidFill>
                <a:latin typeface="Calibri" pitchFamily="34" charset="0"/>
                <a:ea typeface="Calibri" pitchFamily="34" charset="-122"/>
                <a:cs typeface="Calibri" pitchFamily="34" charset="-120"/>
              </a:rPr>
              <a:t>Exception → HUMAN REVIEW → logged → email alert</a:t>
            </a:r>
            <a:endParaRPr lang="en-US" sz="1300" dirty="0"/>
          </a:p>
        </p:txBody>
      </p:sp>
      <p:pic>
        <p:nvPicPr>
          <p:cNvPr id="7" name="Image 0" descr="/home/claude/shots/Screenshots/09_Human_Review_Email.png"/>
          <p:cNvPicPr>
            <a:picLocks noChangeAspect="1"/>
          </p:cNvPicPr>
          <p:nvPr/>
        </p:nvPicPr>
        <p:blipFill>
          <a:blip r:embed="rId3"/>
          <a:stretch>
            <a:fillRect/>
          </a:stretch>
        </p:blipFill>
        <p:spPr>
          <a:xfrm>
            <a:off x="5416328" y="603504"/>
            <a:ext cx="3045501" cy="3936492"/>
          </a:xfrm>
          <a:prstGeom prst="rect">
            <a:avLst/>
          </a:prstGeom>
          <a:ln w="19050">
            <a:solidFill>
              <a:schemeClr val="tx1">
                <a:lumMod val="95000"/>
                <a:lumOff val="5000"/>
              </a:schemeClr>
            </a:solidFill>
          </a:ln>
          <a:effectLst>
            <a:outerShdw blurRad="76200" dist="25400" dir="5400000" algn="bl" rotWithShape="0">
              <a:srgbClr val="000000">
                <a:alpha val="20000"/>
              </a:srgbClr>
            </a:outerShdw>
          </a:effectLst>
        </p:spPr>
      </p:pic>
      <p:sp>
        <p:nvSpPr>
          <p:cNvPr id="8" name="Text 5"/>
          <p:cNvSpPr txBox="1"/>
          <p:nvPr/>
        </p:nvSpPr>
        <p:spPr>
          <a:xfrm>
            <a:off x="4846320" y="4645152"/>
            <a:ext cx="384048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Human review Gmail alert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Logging, Storage &amp; Notifications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300" b="1" dirty="0">
                <a:solidFill>
                  <a:srgbClr val="4B5563"/>
                </a:solidFill>
                <a:latin typeface="Calibri" pitchFamily="34" charset="0"/>
                <a:ea typeface="Calibri" pitchFamily="34" charset="-122"/>
                <a:cs typeface="Calibri" pitchFamily="34" charset="-120"/>
              </a:rPr>
              <a:t>Traceability from original invoice to final outcome</a:t>
            </a:r>
            <a:endParaRPr lang="en-US" sz="1300" b="1" dirty="0"/>
          </a:p>
        </p:txBody>
      </p:sp>
      <p:pic>
        <p:nvPicPr>
          <p:cNvPr id="4" name="Image 0" descr="/home/claude/shots/Screenshots/02_PO_Master_Invoice_Log.png"/>
          <p:cNvPicPr>
            <a:picLocks noChangeAspect="1"/>
          </p:cNvPicPr>
          <p:nvPr/>
        </p:nvPicPr>
        <p:blipFill>
          <a:blip r:embed="rId3"/>
          <a:stretch>
            <a:fillRect/>
          </a:stretch>
        </p:blipFill>
        <p:spPr>
          <a:xfrm>
            <a:off x="366939" y="1353917"/>
            <a:ext cx="2547297" cy="3048266"/>
          </a:xfrm>
          <a:prstGeom prst="rect">
            <a:avLst/>
          </a:prstGeom>
          <a:ln>
            <a:solidFill>
              <a:schemeClr val="tx1">
                <a:lumMod val="95000"/>
                <a:lumOff val="5000"/>
              </a:schemeClr>
            </a:solidFill>
          </a:ln>
          <a:effectLst>
            <a:outerShdw blurRad="76200" dist="25400" dir="5400000" algn="bl" rotWithShape="0">
              <a:srgbClr val="000000">
                <a:alpha val="20000"/>
              </a:srgbClr>
            </a:outerShdw>
          </a:effectLst>
        </p:spPr>
      </p:pic>
      <p:sp>
        <p:nvSpPr>
          <p:cNvPr id="5" name="Text 2"/>
          <p:cNvSpPr txBox="1"/>
          <p:nvPr/>
        </p:nvSpPr>
        <p:spPr>
          <a:xfrm>
            <a:off x="445356" y="4462272"/>
            <a:ext cx="246888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PO_Master / Invoice_Log</a:t>
            </a:r>
            <a:endParaRPr lang="en-US" sz="900" dirty="0"/>
          </a:p>
        </p:txBody>
      </p:sp>
      <p:pic>
        <p:nvPicPr>
          <p:cNvPr id="6" name="Image 1" descr="/home/claude/shots/Screenshots/11_Google_Drive_Invoice.png"/>
          <p:cNvPicPr>
            <a:picLocks noChangeAspect="1"/>
          </p:cNvPicPr>
          <p:nvPr/>
        </p:nvPicPr>
        <p:blipFill>
          <a:blip r:embed="rId4"/>
          <a:stretch>
            <a:fillRect/>
          </a:stretch>
        </p:blipFill>
        <p:spPr>
          <a:xfrm>
            <a:off x="3098998" y="1518509"/>
            <a:ext cx="3108960" cy="1315527"/>
          </a:xfrm>
          <a:prstGeom prst="rect">
            <a:avLst/>
          </a:prstGeom>
          <a:ln>
            <a:solidFill>
              <a:schemeClr val="tx1">
                <a:lumMod val="95000"/>
                <a:lumOff val="5000"/>
              </a:schemeClr>
            </a:solidFill>
          </a:ln>
          <a:effectLst>
            <a:outerShdw blurRad="76200" dist="25400" dir="5400000" algn="bl" rotWithShape="0">
              <a:srgbClr val="000000">
                <a:alpha val="20000"/>
              </a:srgbClr>
            </a:outerShdw>
          </a:effectLst>
        </p:spPr>
      </p:pic>
      <p:sp>
        <p:nvSpPr>
          <p:cNvPr id="7" name="Text 3"/>
          <p:cNvSpPr txBox="1"/>
          <p:nvPr/>
        </p:nvSpPr>
        <p:spPr>
          <a:xfrm>
            <a:off x="3083843" y="2862072"/>
            <a:ext cx="310896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Original PDFs in Google Drive</a:t>
            </a:r>
            <a:endParaRPr lang="en-US" sz="900" dirty="0"/>
          </a:p>
        </p:txBody>
      </p:sp>
      <p:pic>
        <p:nvPicPr>
          <p:cNvPr id="8" name="Image 2" descr="/home/claude/shots/Screenshots/10_Processing_Notification.png"/>
          <p:cNvPicPr>
            <a:picLocks noChangeAspect="1"/>
          </p:cNvPicPr>
          <p:nvPr/>
        </p:nvPicPr>
        <p:blipFill>
          <a:blip r:embed="rId5"/>
          <a:stretch>
            <a:fillRect/>
          </a:stretch>
        </p:blipFill>
        <p:spPr>
          <a:xfrm>
            <a:off x="3122232" y="3118708"/>
            <a:ext cx="3107533" cy="1343564"/>
          </a:xfrm>
          <a:prstGeom prst="rect">
            <a:avLst/>
          </a:prstGeom>
          <a:effectLst>
            <a:outerShdw blurRad="76200" dist="25400" dir="5400000" algn="bl" rotWithShape="0">
              <a:srgbClr val="000000">
                <a:alpha val="20000"/>
              </a:srgbClr>
            </a:outerShdw>
          </a:effectLst>
        </p:spPr>
      </p:pic>
      <p:sp>
        <p:nvSpPr>
          <p:cNvPr id="9" name="Text 4"/>
          <p:cNvSpPr txBox="1"/>
          <p:nvPr/>
        </p:nvSpPr>
        <p:spPr>
          <a:xfrm>
            <a:off x="3097116" y="4462272"/>
            <a:ext cx="310896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Processing notification sent</a:t>
            </a:r>
            <a:endParaRPr lang="en-US" sz="900" dirty="0"/>
          </a:p>
        </p:txBody>
      </p:sp>
      <p:sp>
        <p:nvSpPr>
          <p:cNvPr id="10" name="Text 5"/>
          <p:cNvSpPr txBox="1"/>
          <p:nvPr/>
        </p:nvSpPr>
        <p:spPr>
          <a:xfrm>
            <a:off x="6400800" y="1280160"/>
            <a:ext cx="2286000" cy="3200400"/>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Invoice_Log stores invoice data, validation, PO match, decision, reason and date</a:t>
            </a:r>
          </a:p>
          <a:p>
            <a:pPr>
              <a:spcAft>
                <a:spcPts val="500"/>
              </a:spcAft>
              <a:buSzPct val="100000"/>
            </a:pPr>
            <a:endParaRPr lang="en-US" sz="8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Original PDFs stored in Google Drive</a:t>
            </a:r>
          </a:p>
          <a:p>
            <a:pPr>
              <a:spcAft>
                <a:spcPts val="500"/>
              </a:spcAft>
              <a:buSzPct val="100000"/>
            </a:pPr>
            <a:endParaRPr lang="en-US" sz="800" dirty="0"/>
          </a:p>
          <a:p>
            <a:pPr marL="342900" indent="-3429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Human review alert or processing notification sent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Testing &amp; Results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3301943339"/>
              </p:ext>
            </p:extLst>
          </p:nvPr>
        </p:nvGraphicFramePr>
        <p:xfrm>
          <a:off x="457200" y="1097279"/>
          <a:ext cx="8229600" cy="1892665"/>
        </p:xfrm>
        <a:graphic>
          <a:graphicData uri="http://schemas.openxmlformats.org/drawingml/2006/table">
            <a:tbl>
              <a:tblPr/>
              <a:tblGrid>
                <a:gridCol w="914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8533">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 result</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378533">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TC-01</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Valid invoice + matching PO</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APPROVED</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8533">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TC-02</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Invoice amount ≠ PO amount</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HUMAN REVIEW</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78533">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TC-03</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Duplicate invoice number</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8533">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TC-04</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Invoice arithmetic mismatch</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HUMAN REVIEW</a:t>
                      </a:r>
                      <a:endParaRPr lang="en-US" sz="14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457200" y="3294017"/>
            <a:ext cx="8229600" cy="277223"/>
          </a:xfrm>
          <a:prstGeom prst="rect">
            <a:avLst/>
          </a:prstGeom>
          <a:solidFill>
            <a:schemeClr val="bg1">
              <a:lumMod val="95000"/>
            </a:schemeClr>
          </a:solidFill>
          <a:ln/>
        </p:spPr>
        <p:txBody>
          <a:bodyPr wrap="square" lIns="0" tIns="0" rIns="0" bIns="0" rtlCol="0" anchor="t"/>
          <a:lstStyle/>
          <a:p>
            <a:pPr marL="342900" indent="-342900">
              <a:spcAft>
                <a:spcPts val="500"/>
              </a:spcAft>
              <a:buSzPct val="100000"/>
              <a:buChar char="•"/>
            </a:pPr>
            <a:r>
              <a:rPr lang="en-US" sz="1300" b="1" dirty="0">
                <a:solidFill>
                  <a:srgbClr val="1F2937"/>
                </a:solidFill>
                <a:latin typeface="Calibri" pitchFamily="34" charset="0"/>
                <a:ea typeface="Calibri" pitchFamily="34" charset="-122"/>
                <a:cs typeface="Calibri" pitchFamily="34" charset="-120"/>
              </a:rPr>
              <a:t>Verified: </a:t>
            </a:r>
            <a:r>
              <a:rPr lang="en-US" sz="1300" i="1" dirty="0">
                <a:solidFill>
                  <a:srgbClr val="1F2937"/>
                </a:solidFill>
                <a:latin typeface="Calibri" pitchFamily="34" charset="0"/>
                <a:ea typeface="Calibri" pitchFamily="34" charset="-122"/>
                <a:cs typeface="Calibri" pitchFamily="34" charset="-120"/>
              </a:rPr>
              <a:t>extraction, validation, duplicate detection, PO matching, decision logic, routing, notifications, logging</a:t>
            </a:r>
            <a:endParaRPr lang="en-US" sz="1300" i="1" dirty="0"/>
          </a:p>
        </p:txBody>
      </p:sp>
      <p:sp>
        <p:nvSpPr>
          <p:cNvPr id="5" name="Text 2"/>
          <p:cNvSpPr/>
          <p:nvPr/>
        </p:nvSpPr>
        <p:spPr>
          <a:xfrm>
            <a:off x="457200" y="3840480"/>
            <a:ext cx="8229600" cy="548640"/>
          </a:xfrm>
          <a:prstGeom prst="rect">
            <a:avLst/>
          </a:prstGeom>
          <a:solidFill>
            <a:srgbClr val="E6F6F7"/>
          </a:solidFill>
          <a:ln/>
        </p:spPr>
        <p:txBody>
          <a:bodyPr wrap="square" lIns="127000" tIns="127000" rIns="127000" bIns="127000" rtlCol="0" anchor="ctr"/>
          <a:lstStyle/>
          <a:p>
            <a:pPr marL="0" indent="0">
              <a:buNone/>
            </a:pPr>
            <a:r>
              <a:rPr lang="en-US" sz="1300" b="1" dirty="0">
                <a:solidFill>
                  <a:srgbClr val="0F2340"/>
                </a:solidFill>
                <a:latin typeface="Calibri" pitchFamily="34" charset="0"/>
                <a:ea typeface="Calibri" pitchFamily="34" charset="-122"/>
                <a:cs typeface="Calibri" pitchFamily="34" charset="-120"/>
              </a:rPr>
              <a:t>Result: intake → AI extraction → validation → PO matching → decision → logging → notification works end to end.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Key Controls &amp; Design Principles</a:t>
            </a:r>
            <a:endParaRPr lang="en-US" sz="2800" dirty="0"/>
          </a:p>
        </p:txBody>
      </p:sp>
      <p:sp>
        <p:nvSpPr>
          <p:cNvPr id="3" name="Text 1"/>
          <p:cNvSpPr/>
          <p:nvPr/>
        </p:nvSpPr>
        <p:spPr>
          <a:xfrm>
            <a:off x="457200" y="109728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Structured AI output</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Parser constrains Gemini to a JSON schema</a:t>
            </a:r>
            <a:endParaRPr lang="en-US" sz="1600" dirty="0"/>
          </a:p>
        </p:txBody>
      </p:sp>
      <p:sp>
        <p:nvSpPr>
          <p:cNvPr id="4" name="Text 2"/>
          <p:cNvSpPr/>
          <p:nvPr/>
        </p:nvSpPr>
        <p:spPr>
          <a:xfrm>
            <a:off x="3246120" y="109728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Deterministic validation</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Financial checks use explicit rules</a:t>
            </a:r>
            <a:endParaRPr lang="en-US" sz="1600" dirty="0"/>
          </a:p>
        </p:txBody>
      </p:sp>
      <p:sp>
        <p:nvSpPr>
          <p:cNvPr id="5" name="Text 3"/>
          <p:cNvSpPr/>
          <p:nvPr/>
        </p:nvSpPr>
        <p:spPr>
          <a:xfrm>
            <a:off x="6035040" y="109728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Duplicate detection</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Invoice numbers checked against the log</a:t>
            </a:r>
            <a:endParaRPr lang="en-US" sz="1600" dirty="0"/>
          </a:p>
        </p:txBody>
      </p:sp>
      <p:sp>
        <p:nvSpPr>
          <p:cNvPr id="6" name="Text 4"/>
          <p:cNvSpPr/>
          <p:nvPr/>
        </p:nvSpPr>
        <p:spPr>
          <a:xfrm>
            <a:off x="457200" y="260604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PO matching</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Vendor, amount, currency, status verified</a:t>
            </a:r>
            <a:endParaRPr lang="en-US" sz="1600" dirty="0"/>
          </a:p>
        </p:txBody>
      </p:sp>
      <p:sp>
        <p:nvSpPr>
          <p:cNvPr id="7" name="Text 5"/>
          <p:cNvSpPr/>
          <p:nvPr/>
        </p:nvSpPr>
        <p:spPr>
          <a:xfrm>
            <a:off x="3246120" y="260604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Human-in-the-loop</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Exceptions routed to manual review</a:t>
            </a:r>
            <a:endParaRPr lang="en-US" sz="1600" dirty="0"/>
          </a:p>
        </p:txBody>
      </p:sp>
      <p:sp>
        <p:nvSpPr>
          <p:cNvPr id="8" name="Text 6"/>
          <p:cNvSpPr/>
          <p:nvPr/>
        </p:nvSpPr>
        <p:spPr>
          <a:xfrm>
            <a:off x="6035040" y="2606040"/>
            <a:ext cx="2606040" cy="1325880"/>
          </a:xfrm>
          <a:prstGeom prst="rect">
            <a:avLst/>
          </a:prstGeom>
          <a:solidFill>
            <a:schemeClr val="bg1">
              <a:lumMod val="85000"/>
            </a:schemeClr>
          </a:solidFill>
          <a:ln/>
        </p:spPr>
        <p:txBody>
          <a:bodyPr wrap="square" lIns="152400" tIns="152400" rIns="152400" bIns="152400" rtlCol="0" anchor="ctr"/>
          <a:lstStyle/>
          <a:p>
            <a:pPr marL="0" indent="0">
              <a:buNone/>
            </a:pPr>
            <a:r>
              <a:rPr lang="en-US" sz="1600" b="1" dirty="0">
                <a:solidFill>
                  <a:srgbClr val="0F2340"/>
                </a:solidFill>
                <a:latin typeface="Calibri" pitchFamily="34" charset="0"/>
                <a:ea typeface="Calibri" pitchFamily="34" charset="-122"/>
                <a:cs typeface="Calibri" pitchFamily="34" charset="-120"/>
              </a:rPr>
              <a:t>Auditability</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Results and reasons stored in Invoice_Log</a:t>
            </a:r>
            <a:endParaRPr lang="en-US" sz="1600" dirty="0"/>
          </a:p>
        </p:txBody>
      </p:sp>
      <p:sp>
        <p:nvSpPr>
          <p:cNvPr id="9" name="Text 7"/>
          <p:cNvSpPr/>
          <p:nvPr/>
        </p:nvSpPr>
        <p:spPr>
          <a:xfrm>
            <a:off x="457200" y="4206240"/>
            <a:ext cx="8229600" cy="548640"/>
          </a:xfrm>
          <a:prstGeom prst="rect">
            <a:avLst/>
          </a:prstGeom>
          <a:solidFill>
            <a:srgbClr val="E6F6F7"/>
          </a:solidFill>
          <a:ln/>
        </p:spPr>
        <p:txBody>
          <a:bodyPr wrap="square" lIns="127000" tIns="127000" rIns="127000" bIns="127000" rtlCol="0" anchor="ctr"/>
          <a:lstStyle/>
          <a:p>
            <a:pPr marL="0" indent="0" algn="ctr">
              <a:buNone/>
            </a:pPr>
            <a:r>
              <a:rPr lang="en-US" b="1" dirty="0">
                <a:solidFill>
                  <a:srgbClr val="0F2340"/>
                </a:solidFill>
                <a:latin typeface="Calibri" pitchFamily="34" charset="0"/>
                <a:ea typeface="Calibri" pitchFamily="34" charset="-122"/>
                <a:cs typeface="Calibri" pitchFamily="34" charset="-120"/>
              </a:rPr>
              <a:t>AI extracts information; deterministic business rules control the decision.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solidFill>
            <a:schemeClr val="bg1">
              <a:lumMod val="85000"/>
            </a:schemeClr>
          </a:solidFill>
          <a:ln/>
        </p:spPr>
        <p:txBody>
          <a:bodyPr wrap="square" lIns="0" tIns="0" rIns="0" bIns="0" rtlCol="0" anchor="ctr"/>
          <a:lstStyle/>
          <a:p>
            <a:pPr marL="0" indent="0">
              <a:buNone/>
            </a:pPr>
            <a:r>
              <a:rPr lang="en-US" sz="2800" b="1" dirty="0">
                <a:solidFill>
                  <a:srgbClr val="0F2340"/>
                </a:solidFill>
                <a:latin typeface="Calibri" pitchFamily="34" charset="0"/>
                <a:ea typeface="Calibri" pitchFamily="34" charset="-122"/>
                <a:cs typeface="Calibri" pitchFamily="34" charset="-120"/>
              </a:rPr>
              <a:t>Business Benefits</a:t>
            </a:r>
            <a:endParaRPr lang="en-US" sz="2800" dirty="0"/>
          </a:p>
        </p:txBody>
      </p:sp>
      <p:sp>
        <p:nvSpPr>
          <p:cNvPr id="3" name="Text 1"/>
          <p:cNvSpPr txBox="1"/>
          <p:nvPr/>
        </p:nvSpPr>
        <p:spPr>
          <a:xfrm>
            <a:off x="457200" y="1188720"/>
            <a:ext cx="4572000" cy="347472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Less repetitive manual invoice work</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Standardized validation</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Duplicate invoices detected</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PO mismatches identified</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Better exception handling</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Centralized processing records and traceability</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Automated processing notifications</a:t>
            </a:r>
            <a:endParaRPr lang="en-US" sz="2000" dirty="0"/>
          </a:p>
        </p:txBody>
      </p:sp>
      <p:sp>
        <p:nvSpPr>
          <p:cNvPr id="4" name="Text 2"/>
          <p:cNvSpPr/>
          <p:nvPr/>
        </p:nvSpPr>
        <p:spPr>
          <a:xfrm>
            <a:off x="5159829" y="1188719"/>
            <a:ext cx="3526971" cy="3474719"/>
          </a:xfrm>
          <a:prstGeom prst="rect">
            <a:avLst/>
          </a:prstGeom>
          <a:solidFill>
            <a:schemeClr val="bg1">
              <a:lumMod val="85000"/>
            </a:schemeClr>
          </a:solidFill>
          <a:ln/>
        </p:spPr>
        <p:txBody>
          <a:bodyPr wrap="square" rtlCol="0" anchor="ctr"/>
          <a:lstStyle/>
          <a:p>
            <a:pPr marL="0" indent="0" algn="ctr">
              <a:buNone/>
            </a:pPr>
            <a:r>
              <a:rPr lang="en-US" sz="2400" b="1" i="1" dirty="0">
                <a:latin typeface="Calibri" pitchFamily="34" charset="0"/>
                <a:ea typeface="Calibri" pitchFamily="34" charset="-122"/>
                <a:cs typeface="Calibri" pitchFamily="34" charset="-120"/>
              </a:rPr>
              <a:t>Manual processing</a:t>
            </a:r>
            <a:endParaRPr lang="en-US" sz="2400" b="1" i="1" dirty="0"/>
          </a:p>
          <a:p>
            <a:pPr marL="0" indent="0" algn="ctr">
              <a:buNone/>
            </a:pPr>
            <a:r>
              <a:rPr lang="en-US" sz="2400" b="1" i="1" dirty="0">
                <a:latin typeface="Calibri" pitchFamily="34" charset="0"/>
                <a:ea typeface="Calibri" pitchFamily="34" charset="-122"/>
                <a:cs typeface="Calibri" pitchFamily="34" charset="-120"/>
              </a:rPr>
              <a:t>↓</a:t>
            </a:r>
            <a:endParaRPr lang="en-US" sz="2400" b="1" i="1" dirty="0"/>
          </a:p>
          <a:p>
            <a:pPr marL="0" indent="0" algn="ctr">
              <a:buNone/>
            </a:pPr>
            <a:r>
              <a:rPr lang="en-US" sz="2400" b="1" i="1" dirty="0">
                <a:latin typeface="Calibri" pitchFamily="34" charset="0"/>
                <a:ea typeface="Calibri" pitchFamily="34" charset="-122"/>
                <a:cs typeface="Calibri" pitchFamily="34" charset="-120"/>
              </a:rPr>
              <a:t>AI + automation + business rules</a:t>
            </a:r>
            <a:endParaRPr lang="en-US" sz="2400" b="1" i="1" dirty="0"/>
          </a:p>
          <a:p>
            <a:pPr marL="0" indent="0" algn="ctr">
              <a:buNone/>
            </a:pPr>
            <a:r>
              <a:rPr lang="en-US" sz="2400" b="1" i="1" dirty="0">
                <a:latin typeface="Calibri" pitchFamily="34" charset="0"/>
                <a:ea typeface="Calibri" pitchFamily="34" charset="-122"/>
                <a:cs typeface="Calibri" pitchFamily="34" charset="-120"/>
              </a:rPr>
              <a:t>↓</a:t>
            </a:r>
            <a:endParaRPr lang="en-US" sz="2400" b="1" i="1" dirty="0"/>
          </a:p>
          <a:p>
            <a:pPr marL="0" indent="0" algn="ctr">
              <a:buNone/>
            </a:pPr>
            <a:r>
              <a:rPr lang="en-US" sz="2400" b="1" i="1" dirty="0">
                <a:latin typeface="Calibri" pitchFamily="34" charset="0"/>
                <a:ea typeface="Calibri" pitchFamily="34" charset="-122"/>
                <a:cs typeface="Calibri" pitchFamily="34" charset="-120"/>
              </a:rPr>
              <a:t>Structured, controlled processing</a:t>
            </a:r>
            <a:endParaRPr lang="en-US" sz="2400" b="1"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solidFill>
            <a:schemeClr val="bg1">
              <a:lumMod val="85000"/>
            </a:schemeClr>
          </a:solidFill>
          <a:ln/>
        </p:spPr>
        <p:txBody>
          <a:bodyPr wrap="square" lIns="0" tIns="0" rIns="0" bIns="0" rtlCol="0" anchor="ctr"/>
          <a:lstStyle/>
          <a:p>
            <a:pPr marL="0" indent="0" algn="ctr">
              <a:buNone/>
            </a:pPr>
            <a:r>
              <a:rPr lang="en-US" sz="2800" b="1" dirty="0">
                <a:solidFill>
                  <a:srgbClr val="0F2340"/>
                </a:solidFill>
                <a:latin typeface="Calibri" pitchFamily="34" charset="0"/>
                <a:ea typeface="Calibri" pitchFamily="34" charset="-122"/>
                <a:cs typeface="Calibri" pitchFamily="34" charset="-120"/>
              </a:rPr>
              <a:t>Future Scope</a:t>
            </a:r>
            <a:endParaRPr lang="en-US" sz="2800" dirty="0"/>
          </a:p>
        </p:txBody>
      </p:sp>
      <p:sp>
        <p:nvSpPr>
          <p:cNvPr id="3" name="Text 1"/>
          <p:cNvSpPr txBox="1"/>
          <p:nvPr/>
        </p:nvSpPr>
        <p:spPr>
          <a:xfrm>
            <a:off x="457200" y="1188720"/>
            <a:ext cx="3931920" cy="320040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ERP and Vendor Master integration</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OCR for scanned / image invoices</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Advanced approval thresholds</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Accounts-payable system integration</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Multi-currency processing</a:t>
            </a:r>
            <a:endParaRPr lang="en-US" sz="2000" dirty="0"/>
          </a:p>
        </p:txBody>
      </p:sp>
      <p:sp>
        <p:nvSpPr>
          <p:cNvPr id="4" name="Text 2"/>
          <p:cNvSpPr txBox="1"/>
          <p:nvPr/>
        </p:nvSpPr>
        <p:spPr>
          <a:xfrm>
            <a:off x="4846320" y="1188720"/>
            <a:ext cx="3840480" cy="3200400"/>
          </a:xfrm>
          <a:prstGeom prst="rect">
            <a:avLst/>
          </a:prstGeom>
          <a:solidFill>
            <a:schemeClr val="bg1">
              <a:lumMod val="85000"/>
            </a:schemeClr>
          </a:solidFill>
          <a:ln/>
        </p:spPr>
        <p:txBody>
          <a:bodyPr wrap="square" lIns="0" tIns="0" rIns="0" bIns="0" rtlCol="0" anchor="t"/>
          <a:lstStyle/>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Invoice analytics dashboard</a:t>
            </a:r>
          </a:p>
          <a:p>
            <a:pPr>
              <a:spcAft>
                <a:spcPts val="500"/>
              </a:spcAft>
              <a:buSzPct val="100000"/>
            </a:pPr>
            <a:endParaRPr lang="en-US" sz="14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Human approval interface</a:t>
            </a:r>
          </a:p>
          <a:p>
            <a:pPr>
              <a:spcAft>
                <a:spcPts val="500"/>
              </a:spcAft>
              <a:buSzPct val="100000"/>
            </a:pPr>
            <a:endParaRPr lang="en-US" sz="14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Fraud / anomaly detection</a:t>
            </a:r>
          </a:p>
          <a:p>
            <a:pPr>
              <a:spcAft>
                <a:spcPts val="500"/>
              </a:spcAft>
              <a:buSzPct val="100000"/>
            </a:pPr>
            <a:endParaRPr lang="en-US" sz="14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Automated payment workflow</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0F2340"/>
                </a:solidFill>
                <a:latin typeface="Calibri" pitchFamily="34" charset="0"/>
                <a:ea typeface="Calibri" pitchFamily="34" charset="-122"/>
                <a:cs typeface="Calibri" pitchFamily="34" charset="-120"/>
              </a:rPr>
              <a:t>Conclusion</a:t>
            </a:r>
            <a:endParaRPr lang="en-US" sz="3000" dirty="0"/>
          </a:p>
        </p:txBody>
      </p:sp>
      <p:sp>
        <p:nvSpPr>
          <p:cNvPr id="3" name="Text 1"/>
          <p:cNvSpPr txBox="1"/>
          <p:nvPr/>
        </p:nvSpPr>
        <p:spPr>
          <a:xfrm>
            <a:off x="457200" y="964692"/>
            <a:ext cx="8229600" cy="320040"/>
          </a:xfrm>
          <a:prstGeom prst="rect">
            <a:avLst/>
          </a:prstGeom>
          <a:noFill/>
          <a:ln/>
        </p:spPr>
        <p:txBody>
          <a:bodyPr wrap="square" lIns="0" tIns="0" rIns="0" bIns="0" rtlCol="0" anchor="ctr"/>
          <a:lstStyle/>
          <a:p>
            <a:pPr marL="0" indent="0">
              <a:buNone/>
            </a:pPr>
            <a:r>
              <a:rPr lang="en-US" sz="1400" dirty="0">
                <a:solidFill>
                  <a:srgbClr val="4B5563"/>
                </a:solidFill>
                <a:latin typeface="Calibri" pitchFamily="34" charset="0"/>
                <a:ea typeface="Calibri" pitchFamily="34" charset="-122"/>
                <a:cs typeface="Calibri" pitchFamily="34" charset="-120"/>
              </a:rPr>
              <a:t>Agentic AI + workflow automation for a real business process</a:t>
            </a:r>
            <a:endParaRPr lang="en-US" sz="1400" dirty="0"/>
          </a:p>
        </p:txBody>
      </p:sp>
      <p:sp>
        <p:nvSpPr>
          <p:cNvPr id="4" name="Text 2"/>
          <p:cNvSpPr txBox="1"/>
          <p:nvPr/>
        </p:nvSpPr>
        <p:spPr>
          <a:xfrm>
            <a:off x="457200" y="1645920"/>
            <a:ext cx="8229600" cy="2011680"/>
          </a:xfrm>
          <a:prstGeom prst="rect">
            <a:avLst/>
          </a:prstGeom>
          <a:noFill/>
          <a:ln/>
        </p:spPr>
        <p:txBody>
          <a:bodyPr wrap="square" lIns="0" tIns="0" rIns="0" bIns="0" rtlCol="0" anchor="t"/>
          <a:lstStyle/>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Receives invoices automatically and extracts data with Gemini</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Validates data, detects duplicates, matches POs</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Applies deterministic rules and logs every result</a:t>
            </a:r>
            <a:endParaRPr lang="en-US" sz="2000" dirty="0"/>
          </a:p>
          <a:p>
            <a:pPr marL="342900" indent="-342900">
              <a:spcAft>
                <a:spcPts val="500"/>
              </a:spcAft>
              <a:buSzPct val="100000"/>
              <a:buChar char="•"/>
            </a:pPr>
            <a:r>
              <a:rPr lang="en-US" sz="2000" dirty="0">
                <a:solidFill>
                  <a:srgbClr val="1F2937"/>
                </a:solidFill>
                <a:latin typeface="Calibri" pitchFamily="34" charset="0"/>
                <a:ea typeface="Calibri" pitchFamily="34" charset="-122"/>
                <a:cs typeface="Calibri" pitchFamily="34" charset="-120"/>
              </a:rPr>
              <a:t>Sends notifications and routes exceptions to reviewers</a:t>
            </a:r>
            <a:endParaRPr lang="en-US" sz="2000" dirty="0"/>
          </a:p>
        </p:txBody>
      </p:sp>
      <p:sp>
        <p:nvSpPr>
          <p:cNvPr id="5" name="Text 3"/>
          <p:cNvSpPr/>
          <p:nvPr/>
        </p:nvSpPr>
        <p:spPr>
          <a:xfrm>
            <a:off x="457200" y="3657600"/>
            <a:ext cx="8229600" cy="548640"/>
          </a:xfrm>
          <a:prstGeom prst="rect">
            <a:avLst/>
          </a:prstGeom>
          <a:solidFill>
            <a:srgbClr val="E6F6F7"/>
          </a:solidFill>
          <a:ln/>
        </p:spPr>
        <p:txBody>
          <a:bodyPr wrap="square" lIns="127000" tIns="127000" rIns="127000" bIns="127000" rtlCol="0" anchor="ctr"/>
          <a:lstStyle/>
          <a:p>
            <a:pPr marL="0" indent="0">
              <a:buNone/>
            </a:pPr>
            <a:r>
              <a:rPr lang="en-US" sz="1500" b="1" dirty="0">
                <a:solidFill>
                  <a:srgbClr val="0F2340"/>
                </a:solidFill>
                <a:latin typeface="Calibri" pitchFamily="34" charset="0"/>
                <a:ea typeface="Calibri" pitchFamily="34" charset="-122"/>
                <a:cs typeface="Calibri" pitchFamily="34" charset="-120"/>
              </a:rPr>
              <a:t>Architecture: Gmail + n8n + Gemini + Google Drive + Google Sheets + Gmail + Human-in-the-Loop</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chemeClr val="bg1">
            <a:lumMod val="85000"/>
          </a:schemeClr>
        </a:solidFill>
        <a:effectLst/>
      </p:bgPr>
    </p:bg>
    <p:spTree>
      <p:nvGrpSpPr>
        <p:cNvPr id="1" name=""/>
        <p:cNvGrpSpPr/>
        <p:nvPr/>
      </p:nvGrpSpPr>
      <p:grpSpPr>
        <a:xfrm>
          <a:off x="0" y="0"/>
          <a:ext cx="0" cy="0"/>
          <a:chOff x="0" y="0"/>
          <a:chExt cx="0" cy="0"/>
        </a:xfrm>
      </p:grpSpPr>
      <p:sp>
        <p:nvSpPr>
          <p:cNvPr id="2" name="Text 0"/>
          <p:cNvSpPr txBox="1"/>
          <p:nvPr/>
        </p:nvSpPr>
        <p:spPr>
          <a:xfrm>
            <a:off x="378823" y="1920240"/>
            <a:ext cx="7863840" cy="914400"/>
          </a:xfrm>
          <a:prstGeom prst="rect">
            <a:avLst/>
          </a:prstGeom>
          <a:noFill/>
          <a:ln/>
        </p:spPr>
        <p:txBody>
          <a:bodyPr wrap="square" lIns="0" tIns="0" rIns="0" bIns="0" rtlCol="0" anchor="ctr"/>
          <a:lstStyle/>
          <a:p>
            <a:pPr marL="0" indent="0" algn="ctr">
              <a:buNone/>
            </a:pPr>
            <a:r>
              <a:rPr lang="en-US" sz="4400" b="1" dirty="0">
                <a:latin typeface="Calibri" pitchFamily="34" charset="0"/>
                <a:ea typeface="Calibri" pitchFamily="34" charset="-122"/>
                <a:cs typeface="Calibri" pitchFamily="34" charset="-120"/>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1122</Words>
  <Application>Microsoft Office PowerPoint</Application>
  <PresentationFormat>On-screen Show (16:9)</PresentationFormat>
  <Paragraphs>278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shubham vishwakarma</cp:lastModifiedBy>
  <cp:revision>11</cp:revision>
  <dcterms:created xsi:type="dcterms:W3CDTF">2026-09-28T17:24:38Z</dcterms:created>
  <dcterms:modified xsi:type="dcterms:W3CDTF">2026-09-29T09:50:15Z</dcterms:modified>
</cp:coreProperties>
</file>